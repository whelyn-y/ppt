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1" r:id="rId3"/>
    <p:sldMasterId id="2147483654" r:id="rId4"/>
  </p:sldMasterIdLst>
  <p:notesMasterIdLst>
    <p:notesMasterId r:id="rId23"/>
  </p:notesMasterIdLst>
  <p:sldIdLst>
    <p:sldId id="256" r:id="rId5"/>
    <p:sldId id="257" r:id="rId6"/>
    <p:sldId id="265" r:id="rId7"/>
    <p:sldId id="288" r:id="rId8"/>
    <p:sldId id="267" r:id="rId9"/>
    <p:sldId id="272" r:id="rId10"/>
    <p:sldId id="283" r:id="rId11"/>
    <p:sldId id="268" r:id="rId12"/>
    <p:sldId id="261" r:id="rId13"/>
    <p:sldId id="273" r:id="rId14"/>
    <p:sldId id="269" r:id="rId15"/>
    <p:sldId id="262" r:id="rId16"/>
    <p:sldId id="270" r:id="rId17"/>
    <p:sldId id="263" r:id="rId18"/>
    <p:sldId id="271" r:id="rId19"/>
    <p:sldId id="264" r:id="rId20"/>
    <p:sldId id="274" r:id="rId21"/>
    <p:sldId id="259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8" userDrawn="1">
          <p15:clr>
            <a:srgbClr val="A4A3A4"/>
          </p15:clr>
        </p15:guide>
        <p15:guide id="2" pos="6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66C3"/>
    <a:srgbClr val="67C066"/>
    <a:srgbClr val="3DB5AF"/>
    <a:srgbClr val="0859A8"/>
    <a:srgbClr val="FFE549"/>
    <a:srgbClr val="E73433"/>
    <a:srgbClr val="8EC31F"/>
    <a:srgbClr val="0052A4"/>
    <a:srgbClr val="41C0F0"/>
    <a:srgbClr val="FFD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8908" autoAdjust="0"/>
  </p:normalViewPr>
  <p:slideViewPr>
    <p:cSldViewPr snapToGrid="0" showGuides="1">
      <p:cViewPr>
        <p:scale>
          <a:sx n="60" d="100"/>
          <a:sy n="60" d="100"/>
        </p:scale>
        <p:origin x="504" y="1260"/>
      </p:cViewPr>
      <p:guideLst>
        <p:guide orient="horz" pos="438"/>
        <p:guide pos="6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34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3CC5F-F3D2-D240-A0DD-1C8E70CC50D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4195-F979-4444-AA07-A51AD00F94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角圆角矩形 6"/>
          <p:cNvSpPr/>
          <p:nvPr userDrawn="1"/>
        </p:nvSpPr>
        <p:spPr>
          <a:xfrm>
            <a:off x="1738376" y="2195631"/>
            <a:ext cx="1762559" cy="42129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51"/>
          <p:cNvSpPr txBox="1"/>
          <p:nvPr userDrawn="1"/>
        </p:nvSpPr>
        <p:spPr>
          <a:xfrm>
            <a:off x="1642464" y="1212040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</a:rPr>
              <a:t>目  录</a:t>
            </a:r>
            <a:endParaRPr lang="zh-CN" altLang="en-US" sz="5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/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3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片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5"/>
          <a:srcRect t="1848" r="50956" b="80865"/>
          <a:stretch>
            <a:fillRect/>
          </a:stretch>
        </p:blipFill>
        <p:spPr>
          <a:xfrm>
            <a:off x="9919085" y="272949"/>
            <a:ext cx="2129623" cy="6613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 descr="查看图片"/>
          <p:cNvPicPr>
            <a:picLocks noChangeAspect="1" noChangeArrowheads="1"/>
          </p:cNvPicPr>
          <p:nvPr userDrawn="1"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 userDrawn="1"/>
        </p:nvPicPr>
        <p:blipFill rotWithShape="1">
          <a:blip r:embed="rId12"/>
          <a:srcRect t="1848" r="50956" b="80865"/>
          <a:stretch>
            <a:fillRect/>
          </a:stretch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/>
          <p:cNvCxnSpPr/>
          <p:nvPr userDrawn="1"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 userDrawn="1"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椭圆 10"/>
          <p:cNvSpPr/>
          <p:nvPr userDrawn="1"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8" Type="http://schemas.openxmlformats.org/officeDocument/2006/relationships/slideLayout" Target="../slideLayouts/slideLayout11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8" Type="http://schemas.openxmlformats.org/officeDocument/2006/relationships/slideLayout" Target="../slideLayouts/slideLayout11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8" Type="http://schemas.openxmlformats.org/officeDocument/2006/relationships/slideLayout" Target="../slideLayouts/slideLayout11.xml"/><Relationship Id="rId27" Type="http://schemas.openxmlformats.org/officeDocument/2006/relationships/image" Target="../media/image11.svg"/><Relationship Id="rId26" Type="http://schemas.openxmlformats.org/officeDocument/2006/relationships/image" Target="../media/image10.png"/><Relationship Id="rId25" Type="http://schemas.openxmlformats.org/officeDocument/2006/relationships/tags" Target="../tags/tag90.xml"/><Relationship Id="rId24" Type="http://schemas.openxmlformats.org/officeDocument/2006/relationships/image" Target="../media/image9.svg"/><Relationship Id="rId23" Type="http://schemas.openxmlformats.org/officeDocument/2006/relationships/image" Target="../media/image8.png"/><Relationship Id="rId22" Type="http://schemas.openxmlformats.org/officeDocument/2006/relationships/tags" Target="../tags/tag89.xml"/><Relationship Id="rId21" Type="http://schemas.openxmlformats.org/officeDocument/2006/relationships/image" Target="../media/image7.svg"/><Relationship Id="rId20" Type="http://schemas.openxmlformats.org/officeDocument/2006/relationships/image" Target="../media/image6.png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/>
          <p:cNvSpPr/>
          <p:nvPr/>
        </p:nvSpPr>
        <p:spPr>
          <a:xfrm>
            <a:off x="9229724" y="4452470"/>
            <a:ext cx="2193650" cy="32789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kumimoji="1" lang="zh-CN" altLang="en-US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kumimoji="1" lang="zh-TW" altLang="en-US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kumimoji="1" lang="en-US" altLang="zh-CN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TW" altLang="en-US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kumimoji="1" lang="en-US" altLang="zh-CN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kumimoji="1" lang="zh-TW" altLang="en-US" sz="1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kumimoji="1"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对角圆角矩形 5"/>
          <p:cNvSpPr/>
          <p:nvPr/>
        </p:nvSpPr>
        <p:spPr>
          <a:xfrm>
            <a:off x="9229725" y="3804505"/>
            <a:ext cx="2193649" cy="531968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報告</a:t>
            </a:r>
            <a:r>
              <a:rPr kumimoji="1"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單位</a:t>
            </a:r>
            <a:r>
              <a:rPr kumimoji="1"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NPI SW</a:t>
            </a:r>
            <a:r>
              <a:rPr kumimoji="1"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en-US" altLang="zh-CN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报告人：</a:t>
            </a:r>
            <a:r>
              <a:rPr kumimoji="1"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杨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250591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轉正</a:t>
            </a:r>
            <a:r>
              <a:rPr kumimoji="1"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報告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95"/>
          <p:cNvSpPr txBox="1"/>
          <p:nvPr/>
        </p:nvSpPr>
        <p:spPr>
          <a:xfrm>
            <a:off x="5875337" y="1212040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TextBox 96"/>
          <p:cNvSpPr txBox="1"/>
          <p:nvPr/>
        </p:nvSpPr>
        <p:spPr>
          <a:xfrm>
            <a:off x="5875337" y="198638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TextBox 95"/>
          <p:cNvSpPr txBox="1"/>
          <p:nvPr/>
        </p:nvSpPr>
        <p:spPr>
          <a:xfrm>
            <a:off x="5875337" y="275034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TextBox 96"/>
          <p:cNvSpPr txBox="1"/>
          <p:nvPr/>
        </p:nvSpPr>
        <p:spPr>
          <a:xfrm>
            <a:off x="5875337" y="3522551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extBox 17"/>
          <p:cNvSpPr txBox="1"/>
          <p:nvPr/>
        </p:nvSpPr>
        <p:spPr>
          <a:xfrm>
            <a:off x="6295020" y="131043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个人简介及文化认知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6295020" y="207695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工作执掌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7"/>
          <p:cNvSpPr txBox="1"/>
          <p:nvPr/>
        </p:nvSpPr>
        <p:spPr>
          <a:xfrm>
            <a:off x="6295020" y="282817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工作心得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7"/>
          <p:cNvSpPr txBox="1"/>
          <p:nvPr/>
        </p:nvSpPr>
        <p:spPr>
          <a:xfrm>
            <a:off x="6295020" y="3597650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工作建议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96"/>
          <p:cNvSpPr txBox="1"/>
          <p:nvPr/>
        </p:nvSpPr>
        <p:spPr>
          <a:xfrm>
            <a:off x="5875337" y="424410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6295020" y="4340192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参与最具价值专案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96"/>
          <p:cNvSpPr txBox="1"/>
          <p:nvPr/>
        </p:nvSpPr>
        <p:spPr>
          <a:xfrm>
            <a:off x="5875337" y="5109761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en-US" altLang="zh-CN" sz="2800" b="1" dirty="0" smtClean="0">
                <a:solidFill>
                  <a:srgbClr val="0859A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6295020" y="5205844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年目标及生涯规划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4559901" y="3143480"/>
            <a:ext cx="31854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个人简介及文化认知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01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31854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个人简介及文化认知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96875" y="1049020"/>
            <a:ext cx="4549140" cy="5333365"/>
            <a:chOff x="626" y="1910"/>
            <a:chExt cx="6964" cy="8090"/>
          </a:xfrm>
        </p:grpSpPr>
        <p:grpSp>
          <p:nvGrpSpPr>
            <p:cNvPr id="42" name="组合 41"/>
            <p:cNvGrpSpPr/>
            <p:nvPr/>
          </p:nvGrpSpPr>
          <p:grpSpPr>
            <a:xfrm>
              <a:off x="626" y="1910"/>
              <a:ext cx="6965" cy="8091"/>
              <a:chOff x="627" y="1508"/>
              <a:chExt cx="5983" cy="8091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27" y="1508"/>
                <a:ext cx="5982" cy="80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966C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27" y="1508"/>
                <a:ext cx="5983" cy="792"/>
              </a:xfrm>
              <a:prstGeom prst="rect">
                <a:avLst/>
              </a:prstGeom>
              <a:solidFill>
                <a:srgbClr val="0966C3"/>
              </a:solidFill>
              <a:ln>
                <a:solidFill>
                  <a:srgbClr val="0966C3"/>
                </a:solidFill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8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基本信息</a:t>
                </a:r>
                <a:endParaRPr lang="zh-CN" altLang="en-US"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1148" y="3134"/>
              <a:ext cx="5922" cy="6590"/>
              <a:chOff x="918" y="2678"/>
              <a:chExt cx="5922" cy="659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918" y="2678"/>
                <a:ext cx="5922" cy="800"/>
                <a:chOff x="918" y="2678"/>
                <a:chExt cx="5922" cy="800"/>
              </a:xfrm>
            </p:grpSpPr>
            <p:sp>
              <p:nvSpPr>
                <p:cNvPr id="20" name="AutoShape 8"/>
                <p:cNvSpPr/>
                <p:nvPr/>
              </p:nvSpPr>
              <p:spPr>
                <a:xfrm>
                  <a:off x="918" y="2678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9"/>
                <p:cNvSpPr/>
                <p:nvPr/>
              </p:nvSpPr>
              <p:spPr>
                <a:xfrm>
                  <a:off x="1118" y="2878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" name="AutoShape 10"/>
                <p:cNvSpPr/>
                <p:nvPr/>
              </p:nvSpPr>
              <p:spPr>
                <a:xfrm>
                  <a:off x="1418" y="2798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姓名：</a:t>
                  </a:r>
                  <a:r>
                    <a:rPr 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杨xx</a:t>
                  </a:r>
                  <a:endParaRPr lang="en-US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Noto Sans SC" panose="020B0200000000000000" charset="-122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918" y="3836"/>
                <a:ext cx="5922" cy="800"/>
                <a:chOff x="918" y="3678"/>
                <a:chExt cx="5922" cy="800"/>
              </a:xfrm>
            </p:grpSpPr>
            <p:sp>
              <p:nvSpPr>
                <p:cNvPr id="23" name="AutoShape 11"/>
                <p:cNvSpPr/>
                <p:nvPr/>
              </p:nvSpPr>
              <p:spPr>
                <a:xfrm>
                  <a:off x="918" y="3678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" name="AutoShape 12"/>
                <p:cNvSpPr/>
                <p:nvPr/>
              </p:nvSpPr>
              <p:spPr>
                <a:xfrm>
                  <a:off x="1118" y="3878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AutoShape 13"/>
                <p:cNvSpPr/>
                <p:nvPr/>
              </p:nvSpPr>
              <p:spPr>
                <a:xfrm>
                  <a:off x="1418" y="3798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职位：</a:t>
                  </a:r>
                  <a:r>
                    <a:rPr 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新进师干</a:t>
                  </a:r>
                  <a:endParaRPr lang="en-US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918" y="4994"/>
                <a:ext cx="5922" cy="800"/>
                <a:chOff x="918" y="5072"/>
                <a:chExt cx="5922" cy="800"/>
              </a:xfrm>
            </p:grpSpPr>
            <p:sp>
              <p:nvSpPr>
                <p:cNvPr id="28" name="AutoShape 8"/>
                <p:cNvSpPr/>
                <p:nvPr/>
              </p:nvSpPr>
              <p:spPr>
                <a:xfrm>
                  <a:off x="918" y="5072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" name="AutoShape 9"/>
                <p:cNvSpPr/>
                <p:nvPr/>
              </p:nvSpPr>
              <p:spPr>
                <a:xfrm>
                  <a:off x="1118" y="5272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AutoShape 10"/>
                <p:cNvSpPr/>
                <p:nvPr/>
              </p:nvSpPr>
              <p:spPr>
                <a:xfrm>
                  <a:off x="1418" y="5192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zh-CN" alt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入职时间：</a:t>
                  </a:r>
                  <a:r>
                    <a:rPr lang="en-US" altLang="zh-CN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2025 </a:t>
                  </a:r>
                  <a:r>
                    <a:rPr lang="zh-CN" alt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年</a:t>
                  </a:r>
                  <a:r>
                    <a:rPr lang="en-US" altLang="zh-CN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 11 </a:t>
                  </a:r>
                  <a:r>
                    <a:rPr lang="zh-CN" alt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月</a:t>
                  </a:r>
                  <a:r>
                    <a:rPr lang="en-US" altLang="zh-CN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 11 </a:t>
                  </a:r>
                  <a:r>
                    <a:rPr lang="zh-CN" alt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日</a:t>
                  </a:r>
                  <a:endParaRPr lang="zh-CN" altLang="en-US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Noto Sans SC" panose="020B0200000000000000" charset="-122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918" y="6152"/>
                <a:ext cx="5922" cy="800"/>
                <a:chOff x="918" y="6072"/>
                <a:chExt cx="5922" cy="800"/>
              </a:xfrm>
            </p:grpSpPr>
            <p:sp>
              <p:nvSpPr>
                <p:cNvPr id="31" name="AutoShape 11"/>
                <p:cNvSpPr/>
                <p:nvPr/>
              </p:nvSpPr>
              <p:spPr>
                <a:xfrm>
                  <a:off x="918" y="6072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AutoShape 12"/>
                <p:cNvSpPr/>
                <p:nvPr/>
              </p:nvSpPr>
              <p:spPr>
                <a:xfrm>
                  <a:off x="1118" y="6272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AutoShape 13"/>
                <p:cNvSpPr/>
                <p:nvPr/>
              </p:nvSpPr>
              <p:spPr>
                <a:xfrm>
                  <a:off x="1418" y="6192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zh-CN" alt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部门：</a:t>
                  </a:r>
                  <a:r>
                    <a:rPr lang="en-US" altLang="zh-CN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NPI SW</a:t>
                  </a:r>
                  <a:endParaRPr lang="en-US" altLang="zh-CN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918" y="7310"/>
                <a:ext cx="5922" cy="800"/>
                <a:chOff x="918" y="7466"/>
                <a:chExt cx="5922" cy="800"/>
              </a:xfrm>
            </p:grpSpPr>
            <p:sp>
              <p:nvSpPr>
                <p:cNvPr id="35" name="AutoShape 8"/>
                <p:cNvSpPr/>
                <p:nvPr/>
              </p:nvSpPr>
              <p:spPr>
                <a:xfrm>
                  <a:off x="918" y="7466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AutoShape 9"/>
                <p:cNvSpPr/>
                <p:nvPr/>
              </p:nvSpPr>
              <p:spPr>
                <a:xfrm>
                  <a:off x="1118" y="7666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AutoShape 10"/>
                <p:cNvSpPr/>
                <p:nvPr/>
              </p:nvSpPr>
              <p:spPr>
                <a:xfrm>
                  <a:off x="1418" y="7586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zh-CN" alt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籍贯：</a:t>
                  </a:r>
                  <a:r>
                    <a:rPr lang="zh-CN" altLang="en-US" b="0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Noto Sans SC" panose="020B0200000000000000" charset="-122"/>
                    </a:rPr>
                    <a:t>河南省驻马店市</a:t>
                  </a:r>
                  <a:endParaRPr lang="zh-CN" altLang="en-US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Noto Sans SC" panose="020B0200000000000000" charset="-122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918" y="8468"/>
                <a:ext cx="5922" cy="800"/>
                <a:chOff x="918" y="8466"/>
                <a:chExt cx="5922" cy="800"/>
              </a:xfrm>
            </p:grpSpPr>
            <p:sp>
              <p:nvSpPr>
                <p:cNvPr id="38" name="AutoShape 11"/>
                <p:cNvSpPr/>
                <p:nvPr/>
              </p:nvSpPr>
              <p:spPr>
                <a:xfrm>
                  <a:off x="918" y="8466"/>
                  <a:ext cx="5923" cy="8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AutoShape 12"/>
                <p:cNvSpPr/>
                <p:nvPr/>
              </p:nvSpPr>
              <p:spPr>
                <a:xfrm>
                  <a:off x="1118" y="8666"/>
                  <a:ext cx="120" cy="400"/>
                </a:xfrm>
                <a:prstGeom prst="rect">
                  <a:avLst/>
                </a:prstGeom>
                <a:solidFill>
                  <a:srgbClr val="0966C3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vert="horz" wrap="square" lIns="63500" tIns="63500" rIns="63500" bIns="63500" rtlCol="0" anchor="ctr"/>
                <a:lstStyle/>
                <a:p>
                  <a:pPr algn="ctr">
                    <a:defRPr/>
                  </a:pPr>
                  <a:endPara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AutoShape 13"/>
                <p:cNvSpPr/>
                <p:nvPr/>
              </p:nvSpPr>
              <p:spPr>
                <a:xfrm>
                  <a:off x="1418" y="8586"/>
                  <a:ext cx="5114" cy="56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ctr" anchorCtr="0"/>
                <a:lstStyle/>
                <a:p>
                  <a:pPr indent="0" algn="l">
                    <a:lnSpc>
                      <a:spcPct val="125000"/>
                    </a:lnSpc>
                    <a:defRPr/>
                  </a:pPr>
                  <a:r>
                    <a:rPr lang="zh-CN" alt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毕业</a:t>
                  </a:r>
                  <a:r>
                    <a:rPr lang="zh-CN" altLang="en-US" b="1" i="0" u="none" strike="noStrike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Noto Sans SC" panose="020B0200000000000000" charset="-122"/>
                      <a:sym typeface="Noto Sans SC" panose="020B0200000000000000" charset="-122"/>
                    </a:rPr>
                    <a:t>院校：</a:t>
                  </a:r>
                  <a:endParaRPr lang="en-US" altLang="zh-CN" b="0" i="0" u="none" strike="noStrike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endParaRPr>
                </a:p>
              </p:txBody>
            </p:sp>
          </p:grpSp>
        </p:grpSp>
      </p:grpSp>
      <p:sp>
        <p:nvSpPr>
          <p:cNvPr id="51" name="矩形 50"/>
          <p:cNvSpPr/>
          <p:nvPr>
            <p:custDataLst>
              <p:tags r:id="rId1"/>
            </p:custDataLst>
          </p:nvPr>
        </p:nvSpPr>
        <p:spPr bwMode="auto">
          <a:xfrm>
            <a:off x="5960822" y="1147763"/>
            <a:ext cx="9052146" cy="421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 dirty="0">
                <a:solidFill>
                  <a:srgbClr val="1A56DB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六大核心价值观</a:t>
            </a:r>
            <a:endParaRPr lang="zh-CN" altLang="en-US" sz="2400" b="1" dirty="0">
              <a:solidFill>
                <a:srgbClr val="1A56DB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>
            <p:custDataLst>
              <p:tags r:id="rId2"/>
            </p:custDataLst>
          </p:nvPr>
        </p:nvSpPr>
        <p:spPr>
          <a:xfrm>
            <a:off x="5960745" y="1608455"/>
            <a:ext cx="5901690" cy="7931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诚信、勤奋、敏捷、分享、合作、共荣</a:t>
            </a:r>
            <a:endParaRPr lang="zh-CN" altLang="en-US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>
            <p:custDataLst>
              <p:tags r:id="rId3"/>
            </p:custDataLst>
          </p:nvPr>
        </p:nvSpPr>
        <p:spPr bwMode="auto">
          <a:xfrm>
            <a:off x="5960822" y="2502595"/>
            <a:ext cx="9054208" cy="421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>
                <a:solidFill>
                  <a:srgbClr val="36B37E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单击添加标题</a:t>
            </a:r>
            <a:endParaRPr lang="zh-CN" altLang="en-US" sz="2400" b="1">
              <a:solidFill>
                <a:srgbClr val="36B37E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>
            <p:custDataLst>
              <p:tags r:id="rId4"/>
            </p:custDataLst>
          </p:nvPr>
        </p:nvSpPr>
        <p:spPr>
          <a:xfrm>
            <a:off x="5960745" y="2962275"/>
            <a:ext cx="5899785" cy="7931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单击此处输入你的智能图形项正文，文字是您思想的提炼，请尽量言简意赅的阐述观点</a:t>
            </a:r>
            <a:endParaRPr lang="zh-CN" altLang="en-US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>
            <p:custDataLst>
              <p:tags r:id="rId5"/>
            </p:custDataLst>
          </p:nvPr>
        </p:nvSpPr>
        <p:spPr bwMode="auto">
          <a:xfrm>
            <a:off x="5960822" y="3856739"/>
            <a:ext cx="9054208" cy="421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>
                <a:solidFill>
                  <a:srgbClr val="1A56DB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单击添加标题</a:t>
            </a:r>
            <a:endParaRPr lang="zh-CN" altLang="en-US" sz="2400" b="1">
              <a:solidFill>
                <a:srgbClr val="1A56DB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>
            <p:custDataLst>
              <p:tags r:id="rId6"/>
            </p:custDataLst>
          </p:nvPr>
        </p:nvSpPr>
        <p:spPr>
          <a:xfrm>
            <a:off x="5960745" y="4316730"/>
            <a:ext cx="5899785" cy="7931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单击此处输入你的智能图形项正文，文字是您思想的提炼，请尽量言简意赅的阐述观点</a:t>
            </a:r>
            <a:endParaRPr lang="zh-CN" altLang="en-US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>
            <p:custDataLst>
              <p:tags r:id="rId7"/>
            </p:custDataLst>
          </p:nvPr>
        </p:nvSpPr>
        <p:spPr bwMode="auto">
          <a:xfrm>
            <a:off x="5960822" y="5210883"/>
            <a:ext cx="9054208" cy="421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 dirty="0">
                <a:solidFill>
                  <a:srgbClr val="36B37E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单击添加标题</a:t>
            </a:r>
            <a:endParaRPr lang="zh-CN" altLang="en-US" sz="2400" b="1" dirty="0">
              <a:solidFill>
                <a:srgbClr val="36B37E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>
            <p:custDataLst>
              <p:tags r:id="rId8"/>
            </p:custDataLst>
          </p:nvPr>
        </p:nvSpPr>
        <p:spPr>
          <a:xfrm>
            <a:off x="5960745" y="5670550"/>
            <a:ext cx="5899785" cy="7931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单击此处输入你的智能图形项正文，文字是您思想的提炼，请尽量言简意赅的阐述观点</a:t>
            </a:r>
            <a:endParaRPr lang="zh-CN" altLang="en-US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椭圆 58"/>
          <p:cNvSpPr/>
          <p:nvPr>
            <p:custDataLst>
              <p:tags r:id="rId9"/>
            </p:custDataLst>
          </p:nvPr>
        </p:nvSpPr>
        <p:spPr>
          <a:xfrm>
            <a:off x="5206075" y="1209627"/>
            <a:ext cx="526535" cy="526535"/>
          </a:xfrm>
          <a:prstGeom prst="ellipse">
            <a:avLst/>
          </a:prstGeom>
          <a:solidFill>
            <a:srgbClr val="1A56D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b="1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altLang="zh-CN" b="1" kern="1200" dirty="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0" name="椭圆 59"/>
          <p:cNvSpPr/>
          <p:nvPr>
            <p:custDataLst>
              <p:tags r:id="rId10"/>
            </p:custDataLst>
          </p:nvPr>
        </p:nvSpPr>
        <p:spPr>
          <a:xfrm>
            <a:off x="5206763" y="2563772"/>
            <a:ext cx="526535" cy="526535"/>
          </a:xfrm>
          <a:prstGeom prst="ellipse">
            <a:avLst/>
          </a:prstGeom>
          <a:solidFill>
            <a:srgbClr val="36B37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b="1" kern="120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b="1" kern="120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" name="椭圆 60"/>
          <p:cNvSpPr/>
          <p:nvPr>
            <p:custDataLst>
              <p:tags r:id="rId11"/>
            </p:custDataLst>
          </p:nvPr>
        </p:nvSpPr>
        <p:spPr>
          <a:xfrm>
            <a:off x="5206075" y="3918604"/>
            <a:ext cx="526535" cy="526535"/>
          </a:xfrm>
          <a:prstGeom prst="ellipse">
            <a:avLst/>
          </a:prstGeom>
          <a:solidFill>
            <a:srgbClr val="1A56D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b="1" kern="120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altLang="zh-CN" b="1" kern="120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2" name="椭圆 61"/>
          <p:cNvSpPr/>
          <p:nvPr>
            <p:custDataLst>
              <p:tags r:id="rId12"/>
            </p:custDataLst>
          </p:nvPr>
        </p:nvSpPr>
        <p:spPr>
          <a:xfrm>
            <a:off x="5206763" y="5272748"/>
            <a:ext cx="526535" cy="526535"/>
          </a:xfrm>
          <a:prstGeom prst="ellipse">
            <a:avLst/>
          </a:prstGeom>
          <a:solidFill>
            <a:srgbClr val="36B37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b="1" kern="120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en-US" altLang="zh-CN" b="1" kern="120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63" name="直接连接符 62"/>
          <p:cNvCxnSpPr/>
          <p:nvPr>
            <p:custDataLst>
              <p:tags r:id="rId13"/>
            </p:custDataLst>
          </p:nvPr>
        </p:nvCxnSpPr>
        <p:spPr>
          <a:xfrm>
            <a:off x="5469343" y="1927943"/>
            <a:ext cx="2750" cy="444049"/>
          </a:xfrm>
          <a:prstGeom prst="line">
            <a:avLst/>
          </a:prstGeom>
          <a:solidFill>
            <a:srgbClr val="00993F">
              <a:alpha val="0"/>
            </a:srgbClr>
          </a:solidFill>
          <a:ln w="12700" cap="flat" cmpd="sng" algn="ctr">
            <a:solidFill>
              <a:srgbClr val="000000">
                <a:alpha val="30000"/>
              </a:srgbClr>
            </a:solidFill>
            <a:prstDash val="sysDot"/>
            <a:miter lim="800000"/>
          </a:ln>
          <a:effectLst/>
        </p:spPr>
      </p:cxnSp>
      <p:cxnSp>
        <p:nvCxnSpPr>
          <p:cNvPr id="64" name="直接连接符 63"/>
          <p:cNvCxnSpPr/>
          <p:nvPr>
            <p:custDataLst>
              <p:tags r:id="rId14"/>
            </p:custDataLst>
          </p:nvPr>
        </p:nvCxnSpPr>
        <p:spPr>
          <a:xfrm>
            <a:off x="5469343" y="3282774"/>
            <a:ext cx="2750" cy="444049"/>
          </a:xfrm>
          <a:prstGeom prst="line">
            <a:avLst/>
          </a:prstGeom>
          <a:solidFill>
            <a:srgbClr val="00993F">
              <a:alpha val="0"/>
            </a:srgbClr>
          </a:solidFill>
          <a:ln w="12700" cap="flat" cmpd="sng" algn="ctr">
            <a:solidFill>
              <a:srgbClr val="000000">
                <a:alpha val="30000"/>
              </a:srgbClr>
            </a:solidFill>
            <a:prstDash val="sysDot"/>
            <a:miter lim="800000"/>
          </a:ln>
          <a:effectLst/>
        </p:spPr>
      </p:cxnSp>
      <p:cxnSp>
        <p:nvCxnSpPr>
          <p:cNvPr id="65" name="直接连接符 64"/>
          <p:cNvCxnSpPr/>
          <p:nvPr>
            <p:custDataLst>
              <p:tags r:id="rId15"/>
            </p:custDataLst>
          </p:nvPr>
        </p:nvCxnSpPr>
        <p:spPr>
          <a:xfrm>
            <a:off x="5472093" y="4636919"/>
            <a:ext cx="2750" cy="444049"/>
          </a:xfrm>
          <a:prstGeom prst="line">
            <a:avLst/>
          </a:prstGeom>
          <a:solidFill>
            <a:srgbClr val="00993F">
              <a:alpha val="0"/>
            </a:srgbClr>
          </a:solidFill>
          <a:ln w="12700" cap="flat" cmpd="sng" algn="ctr">
            <a:solidFill>
              <a:srgbClr val="000000">
                <a:alpha val="30000"/>
              </a:srgbClr>
            </a:solidFill>
            <a:prstDash val="sysDot"/>
            <a:miter lim="800000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247588" y="311270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工作执掌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02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核心工作职责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1"/>
            </p:custDataLst>
          </p:nvPr>
        </p:nvGrpSpPr>
        <p:grpSpPr>
          <a:xfrm>
            <a:off x="158750" y="1590040"/>
            <a:ext cx="11861800" cy="2126615"/>
            <a:chOff x="332" y="1578"/>
            <a:chExt cx="18680" cy="3349"/>
          </a:xfrm>
        </p:grpSpPr>
        <p:sp>
          <p:nvSpPr>
            <p:cNvPr id="29" name="矩形: 圆角 22"/>
            <p:cNvSpPr/>
            <p:nvPr>
              <p:custDataLst>
                <p:tags r:id="rId2"/>
              </p:custDataLst>
            </p:nvPr>
          </p:nvSpPr>
          <p:spPr>
            <a:xfrm>
              <a:off x="332" y="1785"/>
              <a:ext cx="5745" cy="3142"/>
            </a:xfrm>
            <a:prstGeom prst="roundRect">
              <a:avLst>
                <a:gd name="adj" fmla="val 6347"/>
              </a:avLst>
            </a:prstGeom>
            <a:solidFill>
              <a:srgbClr val="FFFFFF">
                <a:alpha val="5000"/>
              </a:srgbClr>
            </a:solidFill>
            <a:ln w="15875" cap="flat" cmpd="sng" algn="ctr">
              <a:noFill/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endParaRPr lang="zh-CN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: 圆角 33"/>
            <p:cNvSpPr/>
            <p:nvPr>
              <p:custDataLst>
                <p:tags r:id="rId3"/>
              </p:custDataLst>
            </p:nvPr>
          </p:nvSpPr>
          <p:spPr>
            <a:xfrm>
              <a:off x="6800" y="1785"/>
              <a:ext cx="5745" cy="3142"/>
            </a:xfrm>
            <a:prstGeom prst="roundRect">
              <a:avLst>
                <a:gd name="adj" fmla="val 6347"/>
              </a:avLst>
            </a:prstGeom>
            <a:solidFill>
              <a:srgbClr val="FFFFFF">
                <a:alpha val="5000"/>
              </a:srgbClr>
            </a:solidFill>
            <a:ln w="15875" cap="flat" cmpd="sng" algn="ctr">
              <a:noFill/>
              <a:prstDash val="solid"/>
              <a:miter lim="800000"/>
            </a:ln>
            <a:effectLst>
              <a:outerShdw blurRad="279400" dist="228600" dir="2700000" algn="tl" rotWithShape="0">
                <a:srgbClr val="38B2AC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endParaRPr lang="zh-CN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: 圆角 44"/>
            <p:cNvSpPr/>
            <p:nvPr>
              <p:custDataLst>
                <p:tags r:id="rId4"/>
              </p:custDataLst>
            </p:nvPr>
          </p:nvSpPr>
          <p:spPr>
            <a:xfrm>
              <a:off x="13268" y="1785"/>
              <a:ext cx="5745" cy="3142"/>
            </a:xfrm>
            <a:prstGeom prst="roundRect">
              <a:avLst>
                <a:gd name="adj" fmla="val 6347"/>
              </a:avLst>
            </a:prstGeom>
            <a:solidFill>
              <a:srgbClr val="FFFFFF">
                <a:alpha val="5000"/>
              </a:srgbClr>
            </a:solidFill>
            <a:ln w="15875" cap="flat" cmpd="sng" algn="ctr">
              <a:noFill/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endParaRPr lang="zh-CN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: 圆角 2"/>
            <p:cNvSpPr/>
            <p:nvPr>
              <p:custDataLst>
                <p:tags r:id="rId5"/>
              </p:custDataLst>
            </p:nvPr>
          </p:nvSpPr>
          <p:spPr>
            <a:xfrm>
              <a:off x="332" y="1781"/>
              <a:ext cx="5745" cy="3142"/>
            </a:xfrm>
            <a:prstGeom prst="roundRect">
              <a:avLst>
                <a:gd name="adj" fmla="val 6347"/>
              </a:avLst>
            </a:prstGeom>
            <a:gradFill flip="none" rotWithShape="1">
              <a:gsLst>
                <a:gs pos="0">
                  <a:srgbClr val="4299E1">
                    <a:lumMod val="20000"/>
                    <a:lumOff val="80000"/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5875" cap="flat" cmpd="sng" algn="ctr">
              <a:solidFill>
                <a:srgbClr val="4299E1">
                  <a:alpha val="60000"/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输出需求分析文档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主导需求评审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制定功能模块划分与接口设计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任意多边形: 形状 28"/>
            <p:cNvSpPr/>
            <p:nvPr>
              <p:custDataLst>
                <p:tags r:id="rId6"/>
              </p:custDataLst>
            </p:nvPr>
          </p:nvSpPr>
          <p:spPr>
            <a:xfrm>
              <a:off x="1023" y="1578"/>
              <a:ext cx="4362" cy="847"/>
            </a:xfrm>
            <a:prstGeom prst="round2SameRect">
              <a:avLst>
                <a:gd name="adj1" fmla="val 0"/>
                <a:gd name="adj2" fmla="val 28514"/>
              </a:avLst>
            </a:prstGeom>
            <a:gradFill flip="none" rotWithShape="1">
              <a:gsLst>
                <a:gs pos="0">
                  <a:srgbClr val="4299E1">
                    <a:lumMod val="40000"/>
                    <a:lumOff val="60000"/>
                    <a:alpha val="100000"/>
                  </a:srgbClr>
                </a:gs>
                <a:gs pos="69000">
                  <a:srgbClr val="4299E1">
                    <a:alpha val="100000"/>
                  </a:srgbClr>
                </a:gs>
                <a:gs pos="100000">
                  <a:srgbClr val="4299E1">
                    <a:alpha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76200" dir="2700000" algn="tl" rotWithShape="0">
                <a:srgbClr val="4299E1"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需求分析与设计</a:t>
              </a:r>
              <a:endPara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等腰三角形 41"/>
            <p:cNvSpPr/>
            <p:nvPr>
              <p:custDataLst>
                <p:tags r:id="rId7"/>
              </p:custDataLst>
            </p:nvPr>
          </p:nvSpPr>
          <p:spPr>
            <a:xfrm>
              <a:off x="834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等腰三角形 42"/>
            <p:cNvSpPr/>
            <p:nvPr>
              <p:custDataLst>
                <p:tags r:id="rId8"/>
              </p:custDataLst>
            </p:nvPr>
          </p:nvSpPr>
          <p:spPr>
            <a:xfrm flipH="1">
              <a:off x="5385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: 圆角 35"/>
            <p:cNvSpPr/>
            <p:nvPr>
              <p:custDataLst>
                <p:tags r:id="rId9"/>
              </p:custDataLst>
            </p:nvPr>
          </p:nvSpPr>
          <p:spPr>
            <a:xfrm>
              <a:off x="6565" y="1781"/>
              <a:ext cx="6216" cy="3142"/>
            </a:xfrm>
            <a:prstGeom prst="roundRect">
              <a:avLst>
                <a:gd name="adj" fmla="val 6347"/>
              </a:avLst>
            </a:prstGeom>
            <a:gradFill flip="none" rotWithShape="1">
              <a:gsLst>
                <a:gs pos="0">
                  <a:srgbClr val="38B2AC">
                    <a:lumMod val="20000"/>
                    <a:lumOff val="80000"/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5875" cap="flat" cmpd="sng" algn="ctr">
              <a:solidFill>
                <a:srgbClr val="38B2AC">
                  <a:alpha val="60000"/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279400" dist="228600" dir="2700000" algn="tl" rotWithShape="0">
                <a:srgbClr val="38B2AC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遵循统一开发规范与代码管理流程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注重模块化、可维护性与性能优化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持续进行单元测试与代码自检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任意多边形: 形状 36"/>
            <p:cNvSpPr/>
            <p:nvPr>
              <p:custDataLst>
                <p:tags r:id="rId10"/>
              </p:custDataLst>
            </p:nvPr>
          </p:nvSpPr>
          <p:spPr>
            <a:xfrm>
              <a:off x="7492" y="1578"/>
              <a:ext cx="4362" cy="847"/>
            </a:xfrm>
            <a:prstGeom prst="round2SameRect">
              <a:avLst>
                <a:gd name="adj1" fmla="val 0"/>
                <a:gd name="adj2" fmla="val 28514"/>
              </a:avLst>
            </a:prstGeom>
            <a:gradFill flip="none" rotWithShape="1">
              <a:gsLst>
                <a:gs pos="0">
                  <a:srgbClr val="38B2AC">
                    <a:lumMod val="60000"/>
                    <a:lumOff val="40000"/>
                    <a:alpha val="100000"/>
                  </a:srgbClr>
                </a:gs>
                <a:gs pos="66450">
                  <a:srgbClr val="38B2AC">
                    <a:alpha val="100000"/>
                  </a:srgbClr>
                </a:gs>
                <a:gs pos="100000">
                  <a:srgbClr val="38B2AC">
                    <a:alpha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76200" dir="2700000" algn="tl" rotWithShape="0">
                <a:srgbClr val="38B2AC"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功能开发</a:t>
              </a:r>
              <a:endPara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等腰三角形 45"/>
            <p:cNvSpPr/>
            <p:nvPr>
              <p:custDataLst>
                <p:tags r:id="rId11"/>
              </p:custDataLst>
            </p:nvPr>
          </p:nvSpPr>
          <p:spPr>
            <a:xfrm>
              <a:off x="7301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38B2AC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等腰三角形 46"/>
            <p:cNvSpPr/>
            <p:nvPr>
              <p:custDataLst>
                <p:tags r:id="rId12"/>
              </p:custDataLst>
            </p:nvPr>
          </p:nvSpPr>
          <p:spPr>
            <a:xfrm flipH="1">
              <a:off x="11853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38B2AC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: 圆角 42"/>
            <p:cNvSpPr/>
            <p:nvPr>
              <p:custDataLst>
                <p:tags r:id="rId13"/>
              </p:custDataLst>
            </p:nvPr>
          </p:nvSpPr>
          <p:spPr>
            <a:xfrm>
              <a:off x="13268" y="1781"/>
              <a:ext cx="5745" cy="3142"/>
            </a:xfrm>
            <a:prstGeom prst="roundRect">
              <a:avLst>
                <a:gd name="adj" fmla="val 6347"/>
              </a:avLst>
            </a:prstGeom>
            <a:gradFill flip="none" rotWithShape="1">
              <a:gsLst>
                <a:gs pos="0">
                  <a:srgbClr val="4299E1">
                    <a:lumMod val="20000"/>
                    <a:lumOff val="80000"/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5875" cap="flat" cmpd="sng" algn="ctr">
              <a:solidFill>
                <a:srgbClr val="4299E1">
                  <a:alpha val="60000"/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执行版本构建与配置管理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验证功能完整性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记录发布日志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任意多边形: 形状 43"/>
            <p:cNvSpPr/>
            <p:nvPr>
              <p:custDataLst>
                <p:tags r:id="rId14"/>
              </p:custDataLst>
            </p:nvPr>
          </p:nvSpPr>
          <p:spPr>
            <a:xfrm>
              <a:off x="13960" y="1578"/>
              <a:ext cx="4362" cy="847"/>
            </a:xfrm>
            <a:prstGeom prst="round2SameRect">
              <a:avLst>
                <a:gd name="adj1" fmla="val 0"/>
                <a:gd name="adj2" fmla="val 28514"/>
              </a:avLst>
            </a:prstGeom>
            <a:gradFill flip="none" rotWithShape="1">
              <a:gsLst>
                <a:gs pos="0">
                  <a:srgbClr val="4299E1">
                    <a:lumMod val="40000"/>
                    <a:lumOff val="60000"/>
                    <a:alpha val="100000"/>
                  </a:srgbClr>
                </a:gs>
                <a:gs pos="69000">
                  <a:srgbClr val="4299E1">
                    <a:alpha val="100000"/>
                  </a:srgbClr>
                </a:gs>
                <a:gs pos="100000">
                  <a:srgbClr val="4299E1">
                    <a:alpha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76200" dir="2700000" algn="tl" rotWithShape="0">
                <a:srgbClr val="4299E1"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部署发布</a:t>
              </a:r>
              <a:endParaRPr lang="zh-CN" altLang="en-US" sz="1600" b="1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等腰三角形 49"/>
            <p:cNvSpPr/>
            <p:nvPr>
              <p:custDataLst>
                <p:tags r:id="rId15"/>
              </p:custDataLst>
            </p:nvPr>
          </p:nvSpPr>
          <p:spPr>
            <a:xfrm>
              <a:off x="13769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等腰三角形 50"/>
            <p:cNvSpPr/>
            <p:nvPr>
              <p:custDataLst>
                <p:tags r:id="rId16"/>
              </p:custDataLst>
            </p:nvPr>
          </p:nvSpPr>
          <p:spPr>
            <a:xfrm flipH="1">
              <a:off x="18322" y="1578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17"/>
            </p:custDataLst>
          </p:nvPr>
        </p:nvGrpSpPr>
        <p:grpSpPr>
          <a:xfrm>
            <a:off x="928053" y="4153535"/>
            <a:ext cx="10323195" cy="2070100"/>
            <a:chOff x="1503" y="6251"/>
            <a:chExt cx="14895" cy="3350"/>
          </a:xfrm>
        </p:grpSpPr>
        <p:sp>
          <p:nvSpPr>
            <p:cNvPr id="36" name="矩形: 圆角 55"/>
            <p:cNvSpPr/>
            <p:nvPr>
              <p:custDataLst>
                <p:tags r:id="rId18"/>
              </p:custDataLst>
            </p:nvPr>
          </p:nvSpPr>
          <p:spPr>
            <a:xfrm>
              <a:off x="10034" y="6459"/>
              <a:ext cx="5745" cy="3142"/>
            </a:xfrm>
            <a:prstGeom prst="roundRect">
              <a:avLst>
                <a:gd name="adj" fmla="val 6347"/>
              </a:avLst>
            </a:prstGeom>
            <a:solidFill>
              <a:srgbClr val="FFFFFF">
                <a:alpha val="5000"/>
              </a:srgbClr>
            </a:solidFill>
            <a:ln w="15875" cap="flat" cmpd="sng" algn="ctr">
              <a:noFill/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endParaRPr lang="zh-CN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: 圆角 10"/>
            <p:cNvSpPr/>
            <p:nvPr>
              <p:custDataLst>
                <p:tags r:id="rId19"/>
              </p:custDataLst>
            </p:nvPr>
          </p:nvSpPr>
          <p:spPr>
            <a:xfrm>
              <a:off x="2120" y="6459"/>
              <a:ext cx="5745" cy="3142"/>
            </a:xfrm>
            <a:prstGeom prst="roundRect">
              <a:avLst>
                <a:gd name="adj" fmla="val 6347"/>
              </a:avLst>
            </a:prstGeom>
            <a:solidFill>
              <a:srgbClr val="FFFFFF">
                <a:alpha val="5000"/>
              </a:srgbClr>
            </a:solidFill>
            <a:ln w="15875" cap="flat" cmpd="sng" algn="ctr">
              <a:noFill/>
              <a:prstDash val="solid"/>
              <a:miter lim="800000"/>
            </a:ln>
            <a:effectLst>
              <a:outerShdw blurRad="279400" dist="228600" dir="2700000" algn="tl" rotWithShape="0">
                <a:srgbClr val="38B2AC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endParaRPr lang="zh-CN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: 圆角 57"/>
            <p:cNvSpPr/>
            <p:nvPr>
              <p:custDataLst>
                <p:tags r:id="rId20"/>
              </p:custDataLst>
            </p:nvPr>
          </p:nvSpPr>
          <p:spPr>
            <a:xfrm>
              <a:off x="9416" y="6454"/>
              <a:ext cx="6982" cy="3142"/>
            </a:xfrm>
            <a:prstGeom prst="roundRect">
              <a:avLst>
                <a:gd name="adj" fmla="val 6347"/>
              </a:avLst>
            </a:prstGeom>
            <a:gradFill flip="none" rotWithShape="1">
              <a:gsLst>
                <a:gs pos="0">
                  <a:srgbClr val="4299E1">
                    <a:lumMod val="20000"/>
                    <a:lumOff val="80000"/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5875" cap="flat" cmpd="sng" algn="ctr">
              <a:solidFill>
                <a:srgbClr val="4299E1">
                  <a:alpha val="60000"/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279400" dist="228600" dir="2700000" algn="tl" rotWithShape="0">
                <a:srgbClr val="4299E1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学习先进工具（待补充）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跟踪前沿技术动态（待补充）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21"/>
              </p:custDataLst>
            </p:nvPr>
          </p:nvSpPr>
          <p:spPr>
            <a:xfrm>
              <a:off x="10725" y="6251"/>
              <a:ext cx="4362" cy="847"/>
            </a:xfrm>
            <a:prstGeom prst="round2SameRect">
              <a:avLst>
                <a:gd name="adj1" fmla="val 0"/>
                <a:gd name="adj2" fmla="val 28514"/>
              </a:avLst>
            </a:prstGeom>
            <a:gradFill flip="none" rotWithShape="1">
              <a:gsLst>
                <a:gs pos="0">
                  <a:srgbClr val="4299E1">
                    <a:lumMod val="40000"/>
                    <a:lumOff val="60000"/>
                    <a:alpha val="100000"/>
                  </a:srgbClr>
                </a:gs>
                <a:gs pos="69000">
                  <a:srgbClr val="4299E1">
                    <a:alpha val="100000"/>
                  </a:srgbClr>
                </a:gs>
                <a:gs pos="100000">
                  <a:srgbClr val="4299E1">
                    <a:alpha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76200" dir="2700000" algn="tl" rotWithShape="0">
                <a:srgbClr val="4299E1"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技术研究与应用</a:t>
              </a: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等腰三角形 59"/>
            <p:cNvSpPr/>
            <p:nvPr>
              <p:custDataLst>
                <p:tags r:id="rId22"/>
              </p:custDataLst>
            </p:nvPr>
          </p:nvSpPr>
          <p:spPr>
            <a:xfrm>
              <a:off x="10534" y="6251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等腰三角形 60"/>
            <p:cNvSpPr/>
            <p:nvPr>
              <p:custDataLst>
                <p:tags r:id="rId23"/>
              </p:custDataLst>
            </p:nvPr>
          </p:nvSpPr>
          <p:spPr>
            <a:xfrm flipH="1">
              <a:off x="15087" y="6251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4299E1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: 圆角 50"/>
            <p:cNvSpPr/>
            <p:nvPr>
              <p:custDataLst>
                <p:tags r:id="rId24"/>
              </p:custDataLst>
            </p:nvPr>
          </p:nvSpPr>
          <p:spPr>
            <a:xfrm>
              <a:off x="1503" y="6454"/>
              <a:ext cx="6982" cy="3142"/>
            </a:xfrm>
            <a:prstGeom prst="roundRect">
              <a:avLst>
                <a:gd name="adj" fmla="val 6347"/>
              </a:avLst>
            </a:prstGeom>
            <a:gradFill flip="none" rotWithShape="1">
              <a:gsLst>
                <a:gs pos="0">
                  <a:srgbClr val="38B2AC">
                    <a:lumMod val="20000"/>
                    <a:lumOff val="80000"/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5875" cap="flat" cmpd="sng" algn="ctr">
              <a:solidFill>
                <a:srgbClr val="38B2AC">
                  <a:alpha val="60000"/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279400" dist="228600" dir="2700000" algn="tl" rotWithShape="0">
                <a:srgbClr val="38B2AC">
                  <a:alpha val="8000"/>
                </a:srgbClr>
              </a:outerShdw>
            </a:effectLst>
          </p:spPr>
          <p:txBody>
            <a:bodyPr vertOverflow="overflow" horzOverflow="overflow" vert="horz" wrap="square" lIns="128086" tIns="442401" rIns="119494" bIns="144145" numCol="1" spcCol="0" rtlCol="0" fromWordArt="0" anchor="ctr" anchorCtr="0" forceAA="0" compatLnSpc="1">
              <a:noAutofit/>
            </a:bodyPr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实时采集系统日志与错误信息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快速发现并定位异常，分析根本原因并解决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lvl="0" indent="-285750" algn="just">
                <a:lnSpc>
                  <a:spcPct val="150000"/>
                </a:lnSpc>
                <a:buClrTx/>
                <a:buSzTx/>
                <a:buFont typeface="Wingdings" panose="05000000000000000000" charset="0"/>
                <a:buChar char="l"/>
              </a:pPr>
              <a:r>
                <a:rPr lang="zh-CN" altLang="en-US" sz="16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持续优化系统稳定性与容错能力</a:t>
              </a:r>
              <a:endPara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任意多边形: 形状 51"/>
            <p:cNvSpPr/>
            <p:nvPr>
              <p:custDataLst>
                <p:tags r:id="rId25"/>
              </p:custDataLst>
            </p:nvPr>
          </p:nvSpPr>
          <p:spPr>
            <a:xfrm>
              <a:off x="2812" y="6251"/>
              <a:ext cx="4362" cy="847"/>
            </a:xfrm>
            <a:prstGeom prst="round2SameRect">
              <a:avLst>
                <a:gd name="adj1" fmla="val 0"/>
                <a:gd name="adj2" fmla="val 28514"/>
              </a:avLst>
            </a:prstGeom>
            <a:gradFill flip="none" rotWithShape="1">
              <a:gsLst>
                <a:gs pos="0">
                  <a:srgbClr val="38B2AC">
                    <a:lumMod val="60000"/>
                    <a:lumOff val="40000"/>
                    <a:alpha val="100000"/>
                  </a:srgbClr>
                </a:gs>
                <a:gs pos="66450">
                  <a:srgbClr val="38B2AC">
                    <a:alpha val="100000"/>
                  </a:srgbClr>
                </a:gs>
                <a:gs pos="100000">
                  <a:srgbClr val="38B2AC">
                    <a:alpha val="100000"/>
                  </a:srgb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76200" dir="2700000" algn="tl" rotWithShape="0">
                <a:srgbClr val="38B2AC"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系统日志监控与服务异常处理</a:t>
              </a: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等腰三角形 53"/>
            <p:cNvSpPr/>
            <p:nvPr>
              <p:custDataLst>
                <p:tags r:id="rId26"/>
              </p:custDataLst>
            </p:nvPr>
          </p:nvSpPr>
          <p:spPr>
            <a:xfrm>
              <a:off x="2621" y="6251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38B2AC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等腰三角形 54"/>
            <p:cNvSpPr/>
            <p:nvPr>
              <p:custDataLst>
                <p:tags r:id="rId27"/>
              </p:custDataLst>
            </p:nvPr>
          </p:nvSpPr>
          <p:spPr>
            <a:xfrm flipH="1">
              <a:off x="7174" y="6251"/>
              <a:ext cx="191" cy="208"/>
            </a:xfrm>
            <a:prstGeom prst="triangle">
              <a:avLst>
                <a:gd name="adj" fmla="val 100000"/>
              </a:avLst>
            </a:prstGeom>
            <a:solidFill>
              <a:srgbClr val="38B2AC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2852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工作内容量化总结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922655" y="695325"/>
            <a:ext cx="10019665" cy="12649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数据统计：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参与项目数量：</a:t>
            </a:r>
            <a:r>
              <a:rPr lang="en-US" altLang="zh-CN" sz="2400">
                <a:solidFill>
                  <a:srgbClr val="3DB5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5+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；功能模块独立开发：</a:t>
            </a:r>
            <a:r>
              <a:rPr lang="en-US" altLang="zh-CN" sz="2400">
                <a:solidFill>
                  <a:srgbClr val="0966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10+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参与项目：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2"/>
            </p:custDataLst>
          </p:nvPr>
        </p:nvCxnSpPr>
        <p:spPr>
          <a:xfrm>
            <a:off x="-1874373" y="4352476"/>
            <a:ext cx="13527598" cy="0"/>
          </a:xfrm>
          <a:prstGeom prst="line">
            <a:avLst/>
          </a:prstGeom>
          <a:noFill/>
          <a:ln w="25400" cap="flat" cmpd="sng" algn="ctr">
            <a:solidFill>
              <a:srgbClr val="3182CE">
                <a:alpha val="80000"/>
              </a:srgbClr>
            </a:solidFill>
            <a:prstDash val="solid"/>
            <a:miter lim="800000"/>
          </a:ln>
          <a:effectLst/>
        </p:spPr>
      </p:cxnSp>
      <p:sp>
        <p:nvSpPr>
          <p:cNvPr id="24" name="直角三角形 23"/>
          <p:cNvSpPr/>
          <p:nvPr>
            <p:custDataLst>
              <p:tags r:id="rId3"/>
            </p:custDataLst>
          </p:nvPr>
        </p:nvSpPr>
        <p:spPr>
          <a:xfrm rot="13456694">
            <a:off x="11466027" y="4264222"/>
            <a:ext cx="153003" cy="160540"/>
          </a:xfrm>
          <a:prstGeom prst="rtTriangle">
            <a:avLst/>
          </a:prstGeom>
          <a:solidFill>
            <a:srgbClr val="3182CE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4"/>
            </p:custDataLst>
          </p:nvPr>
        </p:nvCxnSpPr>
        <p:spPr>
          <a:xfrm flipV="1">
            <a:off x="1233378" y="2426760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182CE">
                    <a:lumMod val="60000"/>
                    <a:lumOff val="40000"/>
                    <a:alpha val="0"/>
                  </a:srgbClr>
                </a:gs>
                <a:gs pos="100000">
                  <a:srgbClr val="3182CE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29" name="椭圆 28"/>
          <p:cNvSpPr/>
          <p:nvPr>
            <p:custDataLst>
              <p:tags r:id="rId5"/>
            </p:custDataLst>
          </p:nvPr>
        </p:nvSpPr>
        <p:spPr>
          <a:xfrm>
            <a:off x="1126337" y="4279823"/>
            <a:ext cx="175898" cy="175898"/>
          </a:xfrm>
          <a:prstGeom prst="ellipse">
            <a:avLst/>
          </a:prstGeom>
          <a:solidFill>
            <a:srgbClr val="3182CE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182CE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1575435" y="2837815"/>
            <a:ext cx="2193925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维修</a:t>
            </a:r>
            <a:r>
              <a:rPr lang="en-US" altLang="zh-CN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&amp; </a:t>
            </a: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换料</a:t>
            </a:r>
            <a:endParaRPr lang="zh-CN" altLang="en-US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587082" y="2372463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2025/01/12 </a:t>
            </a:r>
            <a:endParaRPr lang="en-US" altLang="zh-CN" sz="2000" b="1" spc="100" dirty="0">
              <a:solidFill>
                <a:srgbClr val="3182C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 flipV="1">
            <a:off x="4397316" y="2426760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182CE">
                    <a:lumMod val="60000"/>
                    <a:lumOff val="40000"/>
                    <a:alpha val="0"/>
                  </a:srgbClr>
                </a:gs>
                <a:gs pos="100000">
                  <a:srgbClr val="3182CE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0" name="椭圆 39"/>
          <p:cNvSpPr/>
          <p:nvPr>
            <p:custDataLst>
              <p:tags r:id="rId9"/>
            </p:custDataLst>
          </p:nvPr>
        </p:nvSpPr>
        <p:spPr>
          <a:xfrm>
            <a:off x="4298806" y="4279823"/>
            <a:ext cx="175898" cy="175898"/>
          </a:xfrm>
          <a:prstGeom prst="ellipse">
            <a:avLst/>
          </a:prstGeom>
          <a:solidFill>
            <a:srgbClr val="3182CE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182CE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4738370" y="2837815"/>
            <a:ext cx="2432050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开发价值追踪系统</a:t>
            </a:r>
            <a:endParaRPr lang="zh-CN" altLang="en-US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1"/>
            </p:custDataLst>
          </p:nvPr>
        </p:nvSpPr>
        <p:spPr>
          <a:xfrm>
            <a:off x="4763429" y="2372463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2025/11/26 </a:t>
            </a:r>
            <a:endParaRPr lang="en-US" altLang="zh-CN" sz="2000" b="1" spc="100" dirty="0">
              <a:solidFill>
                <a:srgbClr val="3182C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>
            <p:custDataLst>
              <p:tags r:id="rId12"/>
            </p:custDataLst>
          </p:nvPr>
        </p:nvSpPr>
        <p:spPr>
          <a:xfrm>
            <a:off x="7531003" y="4279823"/>
            <a:ext cx="175898" cy="175898"/>
          </a:xfrm>
          <a:prstGeom prst="ellipse">
            <a:avLst/>
          </a:prstGeom>
          <a:solidFill>
            <a:srgbClr val="3182CE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182CE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13"/>
            </p:custDataLst>
          </p:nvPr>
        </p:nvCxnSpPr>
        <p:spPr>
          <a:xfrm flipV="1">
            <a:off x="7614775" y="2426760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182CE">
                    <a:lumMod val="60000"/>
                    <a:lumOff val="40000"/>
                    <a:alpha val="0"/>
                  </a:srgbClr>
                </a:gs>
                <a:gs pos="100000">
                  <a:srgbClr val="3182CE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53" name="文本框 52"/>
          <p:cNvSpPr txBox="1"/>
          <p:nvPr>
            <p:custDataLst>
              <p:tags r:id="rId14"/>
            </p:custDataLst>
          </p:nvPr>
        </p:nvSpPr>
        <p:spPr>
          <a:xfrm>
            <a:off x="7979410" y="2837815"/>
            <a:ext cx="4006215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COFA FA tracker For F1 new APP</a:t>
            </a:r>
            <a:endParaRPr lang="en-US" altLang="zh-CN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5"/>
            </p:custDataLst>
          </p:nvPr>
        </p:nvSpPr>
        <p:spPr>
          <a:xfrm>
            <a:off x="7997178" y="2372463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3182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2025/11/26</a:t>
            </a:r>
            <a:endParaRPr lang="en-US" altLang="zh-CN" sz="2000" b="1" spc="100" dirty="0">
              <a:solidFill>
                <a:srgbClr val="3182C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16"/>
            </p:custDataLst>
          </p:nvPr>
        </p:nvCxnSpPr>
        <p:spPr>
          <a:xfrm>
            <a:off x="2807978" y="4611031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48BB78">
                    <a:lumMod val="60000"/>
                    <a:lumOff val="40000"/>
                    <a:alpha val="0"/>
                  </a:srgbClr>
                </a:gs>
                <a:gs pos="100000">
                  <a:srgbClr val="48BB78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56" name="椭圆 55"/>
          <p:cNvSpPr/>
          <p:nvPr>
            <p:custDataLst>
              <p:tags r:id="rId17"/>
            </p:custDataLst>
          </p:nvPr>
        </p:nvSpPr>
        <p:spPr>
          <a:xfrm>
            <a:off x="2720329" y="4279823"/>
            <a:ext cx="175898" cy="175898"/>
          </a:xfrm>
          <a:prstGeom prst="ellipse">
            <a:avLst/>
          </a:prstGeom>
          <a:solidFill>
            <a:srgbClr val="48BB78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48BB78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8"/>
            </p:custDataLst>
          </p:nvPr>
        </p:nvSpPr>
        <p:spPr>
          <a:xfrm>
            <a:off x="3154045" y="5535295"/>
            <a:ext cx="2193925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邮件模板</a:t>
            </a:r>
            <a:r>
              <a:rPr lang="en-US" altLang="zh-CN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Demo</a:t>
            </a:r>
            <a:endParaRPr lang="en-US" altLang="zh-CN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9"/>
            </p:custDataLst>
          </p:nvPr>
        </p:nvSpPr>
        <p:spPr>
          <a:xfrm>
            <a:off x="3177971" y="5077207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48B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2025/11/17 </a:t>
            </a:r>
            <a:endParaRPr lang="en-US" altLang="zh-CN" sz="2000" b="1" spc="100" dirty="0">
              <a:solidFill>
                <a:srgbClr val="48B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/>
          <p:cNvCxnSpPr/>
          <p:nvPr>
            <p:custDataLst>
              <p:tags r:id="rId20"/>
            </p:custDataLst>
          </p:nvPr>
        </p:nvCxnSpPr>
        <p:spPr>
          <a:xfrm>
            <a:off x="5961833" y="4611031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48BB78">
                    <a:lumMod val="60000"/>
                    <a:lumOff val="40000"/>
                    <a:alpha val="0"/>
                  </a:srgbClr>
                </a:gs>
                <a:gs pos="100000">
                  <a:srgbClr val="48BB78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60" name="椭圆 59"/>
          <p:cNvSpPr/>
          <p:nvPr>
            <p:custDataLst>
              <p:tags r:id="rId21"/>
            </p:custDataLst>
          </p:nvPr>
        </p:nvSpPr>
        <p:spPr>
          <a:xfrm>
            <a:off x="5883491" y="4279823"/>
            <a:ext cx="175898" cy="175898"/>
          </a:xfrm>
          <a:prstGeom prst="ellipse">
            <a:avLst/>
          </a:prstGeom>
          <a:solidFill>
            <a:srgbClr val="48BB78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48BB78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22"/>
            </p:custDataLst>
          </p:nvPr>
        </p:nvSpPr>
        <p:spPr>
          <a:xfrm>
            <a:off x="6386195" y="5535295"/>
            <a:ext cx="2737485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SMT-COFA </a:t>
            </a: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完善性需求</a:t>
            </a:r>
            <a:endParaRPr lang="zh-CN" altLang="en-US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6403961" y="5077207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48B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2025/11/26</a:t>
            </a:r>
            <a:endParaRPr lang="en-US" altLang="zh-CN" sz="2000" b="1" spc="100" dirty="0">
              <a:solidFill>
                <a:srgbClr val="48B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椭圆 62"/>
          <p:cNvSpPr/>
          <p:nvPr>
            <p:custDataLst>
              <p:tags r:id="rId24"/>
            </p:custDataLst>
          </p:nvPr>
        </p:nvSpPr>
        <p:spPr>
          <a:xfrm>
            <a:off x="9124219" y="4279823"/>
            <a:ext cx="175898" cy="175898"/>
          </a:xfrm>
          <a:prstGeom prst="ellipse">
            <a:avLst/>
          </a:prstGeom>
          <a:solidFill>
            <a:srgbClr val="48BB78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48BB78">
                <a:alpha val="30000"/>
              </a:srgbClr>
            </a:outerShdw>
          </a:effectLst>
        </p:spPr>
        <p:txBody>
          <a:bodyPr rtlCol="0" anchor="ctr"/>
          <a:p>
            <a:pPr algn="ctr"/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25"/>
            </p:custDataLst>
          </p:nvPr>
        </p:nvSpPr>
        <p:spPr>
          <a:xfrm>
            <a:off x="9599930" y="5530850"/>
            <a:ext cx="2193925" cy="924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CoFA </a:t>
            </a:r>
            <a:r>
              <a:rPr lang="zh-CN" altLang="en-US" sz="20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共线</a:t>
            </a:r>
            <a:endParaRPr lang="zh-CN" altLang="en-US" sz="20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26"/>
            </p:custDataLst>
          </p:nvPr>
        </p:nvSpPr>
        <p:spPr>
          <a:xfrm>
            <a:off x="9626075" y="5077207"/>
            <a:ext cx="1576392" cy="3085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l"/>
            <a:r>
              <a:rPr lang="en-US" altLang="zh-CN" sz="2000" b="1" spc="100" dirty="0">
                <a:solidFill>
                  <a:srgbClr val="48B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2026/01/07</a:t>
            </a:r>
            <a:endParaRPr lang="en-US" altLang="zh-CN" sz="2000" b="1" spc="100" dirty="0">
              <a:solidFill>
                <a:srgbClr val="48B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连接符 65"/>
          <p:cNvCxnSpPr/>
          <p:nvPr>
            <p:custDataLst>
              <p:tags r:id="rId27"/>
            </p:custDataLst>
          </p:nvPr>
        </p:nvCxnSpPr>
        <p:spPr>
          <a:xfrm>
            <a:off x="9208766" y="4611031"/>
            <a:ext cx="0" cy="1758988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48BB78">
                    <a:lumMod val="60000"/>
                    <a:lumOff val="40000"/>
                    <a:alpha val="0"/>
                  </a:srgbClr>
                </a:gs>
                <a:gs pos="100000">
                  <a:srgbClr val="48BB78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247588" y="311270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工作心得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03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阶段递进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1"/>
            </p:custDataLst>
          </p:nvPr>
        </p:nvSpPr>
        <p:spPr>
          <a:xfrm>
            <a:off x="360045" y="1270635"/>
            <a:ext cx="3487420" cy="4143375"/>
          </a:xfrm>
          <a:prstGeom prst="roundRect">
            <a:avLst>
              <a:gd name="adj" fmla="val 2258"/>
            </a:avLst>
          </a:prstGeom>
          <a:noFill/>
          <a:ln w="25400" cap="flat" cmpd="sng" algn="ctr">
            <a:solidFill>
              <a:srgbClr val="0066CC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4313555" y="1270635"/>
            <a:ext cx="3487420" cy="4143375"/>
          </a:xfrm>
          <a:prstGeom prst="roundRect">
            <a:avLst>
              <a:gd name="adj" fmla="val 2258"/>
            </a:avLst>
          </a:prstGeom>
          <a:noFill/>
          <a:ln w="25400" cap="flat" cmpd="sng" algn="ctr">
            <a:solidFill>
              <a:srgbClr val="009966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657860" y="2677160"/>
            <a:ext cx="2872740" cy="251714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学习前后端框架的搭建、数据库、消息队列等的使用；</a:t>
            </a:r>
            <a:endParaRPr lang="zh-CN" altLang="en-US" sz="160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邮件模板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全功能开发</a:t>
            </a:r>
            <a:endParaRPr lang="zh-CN" altLang="en-US" sz="160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阶段产出：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学习技术及代码规范</a:t>
            </a:r>
            <a:endParaRPr lang="zh-CN" altLang="en-US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4"/>
            </p:custDataLst>
          </p:nvPr>
        </p:nvSpPr>
        <p:spPr>
          <a:xfrm>
            <a:off x="605934" y="2004540"/>
            <a:ext cx="2996304" cy="47702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试用期初期（第</a:t>
            </a:r>
            <a:r>
              <a:rPr lang="en-US" altLang="zh-CN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 </a:t>
            </a:r>
            <a:r>
              <a:rPr lang="zh-CN" altLang="en-US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周）</a:t>
            </a:r>
            <a:endParaRPr lang="zh-CN" altLang="en-US" sz="1900" b="1" ker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>
            <a:off x="4573905" y="2677160"/>
            <a:ext cx="3039110" cy="251714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Xylon 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CoFA 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</a:t>
            </a: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—— 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签机流程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UPS 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</a:t>
            </a: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—— 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人员、系统、区域管理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</a:t>
            </a:r>
            <a:endParaRPr lang="en-US" altLang="zh-CN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阶段产出：</a:t>
            </a:r>
            <a:r>
              <a:rPr lang="zh-CN" alt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掌握核心业务流程</a:t>
            </a:r>
            <a:endParaRPr lang="zh-CN" altLang="en-US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4559031" y="2004540"/>
            <a:ext cx="2996304" cy="47702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kern="0">
                <a:solidFill>
                  <a:srgbClr val="009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系统熟悉期（第</a:t>
            </a:r>
            <a:r>
              <a:rPr lang="en-US" altLang="zh-CN" sz="1900" b="1" kern="0">
                <a:solidFill>
                  <a:srgbClr val="009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4-6</a:t>
            </a:r>
            <a:r>
              <a:rPr lang="zh-CN" altLang="en-US" sz="1900" b="1" kern="0">
                <a:solidFill>
                  <a:srgbClr val="009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周）</a:t>
            </a:r>
            <a:endParaRPr lang="zh-CN" altLang="en-US" sz="1900" b="1" kern="0">
              <a:solidFill>
                <a:srgbClr val="0099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>
            <p:custDataLst>
              <p:tags r:id="rId7"/>
            </p:custDataLst>
          </p:nvPr>
        </p:nvSpPr>
        <p:spPr>
          <a:xfrm>
            <a:off x="8338185" y="1270635"/>
            <a:ext cx="3487420" cy="4143375"/>
          </a:xfrm>
          <a:prstGeom prst="roundRect">
            <a:avLst>
              <a:gd name="adj" fmla="val 2258"/>
            </a:avLst>
          </a:prstGeom>
          <a:noFill/>
          <a:ln w="25400" cap="flat" cmpd="sng" algn="ctr">
            <a:solidFill>
              <a:srgbClr val="0066CC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8"/>
            </p:custDataLst>
          </p:nvPr>
        </p:nvSpPr>
        <p:spPr>
          <a:xfrm>
            <a:off x="8573770" y="2677160"/>
            <a:ext cx="3039110" cy="251714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梳理项目需求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在不同项目中完成不同的模块功能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修复代码</a:t>
            </a:r>
            <a:r>
              <a:rPr lang="en-US" altLang="zh-CN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bug</a:t>
            </a:r>
            <a:r>
              <a:rPr lang="zh-CN" altLang="en-US" sz="16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，并总结编码注意事项</a:t>
            </a:r>
            <a:endParaRPr lang="zh-CN" altLang="en-US" sz="16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阶段产出：</a:t>
            </a:r>
            <a:r>
              <a:rPr lang="zh-CN" altLang="en-US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业务功能持续迭代</a:t>
            </a:r>
            <a:endParaRPr lang="zh-CN" altLang="en-US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9"/>
            </p:custDataLst>
          </p:nvPr>
        </p:nvSpPr>
        <p:spPr>
          <a:xfrm>
            <a:off x="8583989" y="2004540"/>
            <a:ext cx="2996304" cy="47702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项目实践期（第</a:t>
            </a:r>
            <a:r>
              <a:rPr lang="en-US" altLang="zh-CN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6-20</a:t>
            </a:r>
            <a:r>
              <a:rPr lang="zh-CN" altLang="en-US" sz="1900" b="1" kern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周）</a:t>
            </a:r>
            <a:endParaRPr lang="zh-CN" altLang="en-US" sz="1900" b="1" kern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10"/>
            </p:custDataLst>
          </p:nvPr>
        </p:nvCxnSpPr>
        <p:spPr>
          <a:xfrm>
            <a:off x="1922036" y="5194054"/>
            <a:ext cx="364101" cy="0"/>
          </a:xfrm>
          <a:prstGeom prst="line">
            <a:avLst/>
          </a:prstGeom>
          <a:noFill/>
          <a:ln w="47625" cap="rnd" cmpd="sng" algn="ctr">
            <a:solidFill>
              <a:srgbClr val="0066CC"/>
            </a:solidFill>
            <a:prstDash val="solid"/>
            <a:miter lim="800000"/>
          </a:ln>
          <a:effectLst/>
        </p:spPr>
      </p:cxnSp>
      <p:cxnSp>
        <p:nvCxnSpPr>
          <p:cNvPr id="43" name="直接连接符 42"/>
          <p:cNvCxnSpPr/>
          <p:nvPr>
            <p:custDataLst>
              <p:tags r:id="rId11"/>
            </p:custDataLst>
          </p:nvPr>
        </p:nvCxnSpPr>
        <p:spPr>
          <a:xfrm>
            <a:off x="5867512" y="5194054"/>
            <a:ext cx="364101" cy="0"/>
          </a:xfrm>
          <a:prstGeom prst="line">
            <a:avLst/>
          </a:prstGeom>
          <a:noFill/>
          <a:ln w="47625" cap="rnd" cmpd="sng" algn="ctr">
            <a:solidFill>
              <a:srgbClr val="009966"/>
            </a:solidFill>
            <a:prstDash val="solid"/>
            <a:miter lim="800000"/>
          </a:ln>
          <a:effectLst/>
        </p:spPr>
      </p:cxnSp>
      <p:cxnSp>
        <p:nvCxnSpPr>
          <p:cNvPr id="44" name="直接连接符 43"/>
          <p:cNvCxnSpPr/>
          <p:nvPr>
            <p:custDataLst>
              <p:tags r:id="rId12"/>
            </p:custDataLst>
          </p:nvPr>
        </p:nvCxnSpPr>
        <p:spPr>
          <a:xfrm>
            <a:off x="9900090" y="5194054"/>
            <a:ext cx="364101" cy="0"/>
          </a:xfrm>
          <a:prstGeom prst="line">
            <a:avLst/>
          </a:prstGeom>
          <a:noFill/>
          <a:ln w="47625" cap="rnd" cmpd="sng" algn="ctr">
            <a:solidFill>
              <a:srgbClr val="0066CC"/>
            </a:solidFill>
            <a:prstDash val="solid"/>
            <a:miter lim="800000"/>
          </a:ln>
          <a:effectLst/>
        </p:spPr>
      </p:cxnSp>
      <p:sp>
        <p:nvSpPr>
          <p:cNvPr id="45" name="椭圆 44"/>
          <p:cNvSpPr/>
          <p:nvPr>
            <p:custDataLst>
              <p:tags r:id="rId13"/>
            </p:custDataLst>
          </p:nvPr>
        </p:nvSpPr>
        <p:spPr>
          <a:xfrm>
            <a:off x="1664701" y="810944"/>
            <a:ext cx="959529" cy="959529"/>
          </a:xfrm>
          <a:prstGeom prst="ellipse">
            <a:avLst/>
          </a:prstGeom>
          <a:solidFill>
            <a:srgbClr val="0066CC">
              <a:alpha val="1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椭圆 45"/>
          <p:cNvSpPr/>
          <p:nvPr>
            <p:custDataLst>
              <p:tags r:id="rId14"/>
            </p:custDataLst>
          </p:nvPr>
        </p:nvSpPr>
        <p:spPr>
          <a:xfrm>
            <a:off x="1696868" y="810260"/>
            <a:ext cx="894511" cy="894511"/>
          </a:xfrm>
          <a:prstGeom prst="ellipse">
            <a:avLst/>
          </a:prstGeom>
          <a:solidFill>
            <a:srgbClr val="0066CC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>
            <p:custDataLst>
              <p:tags r:id="rId15"/>
            </p:custDataLst>
          </p:nvPr>
        </p:nvSpPr>
        <p:spPr>
          <a:xfrm>
            <a:off x="5577418" y="810944"/>
            <a:ext cx="959529" cy="959529"/>
          </a:xfrm>
          <a:prstGeom prst="ellipse">
            <a:avLst/>
          </a:prstGeom>
          <a:solidFill>
            <a:srgbClr val="009966">
              <a:alpha val="1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椭圆 47"/>
          <p:cNvSpPr/>
          <p:nvPr>
            <p:custDataLst>
              <p:tags r:id="rId16"/>
            </p:custDataLst>
          </p:nvPr>
        </p:nvSpPr>
        <p:spPr>
          <a:xfrm>
            <a:off x="5609585" y="810260"/>
            <a:ext cx="894511" cy="894511"/>
          </a:xfrm>
          <a:prstGeom prst="ellipse">
            <a:avLst/>
          </a:prstGeom>
          <a:solidFill>
            <a:srgbClr val="0099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椭圆 48"/>
          <p:cNvSpPr/>
          <p:nvPr>
            <p:custDataLst>
              <p:tags r:id="rId17"/>
            </p:custDataLst>
          </p:nvPr>
        </p:nvSpPr>
        <p:spPr>
          <a:xfrm>
            <a:off x="9602376" y="810944"/>
            <a:ext cx="959529" cy="959529"/>
          </a:xfrm>
          <a:prstGeom prst="ellipse">
            <a:avLst/>
          </a:prstGeom>
          <a:solidFill>
            <a:srgbClr val="0066CC">
              <a:alpha val="1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椭圆 49"/>
          <p:cNvSpPr/>
          <p:nvPr>
            <p:custDataLst>
              <p:tags r:id="rId18"/>
            </p:custDataLst>
          </p:nvPr>
        </p:nvSpPr>
        <p:spPr>
          <a:xfrm>
            <a:off x="9634543" y="810944"/>
            <a:ext cx="894511" cy="894511"/>
          </a:xfrm>
          <a:prstGeom prst="ellipse">
            <a:avLst/>
          </a:prstGeom>
          <a:solidFill>
            <a:srgbClr val="0066CC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1" name="图形 23" descr="C:\Users\lenovo\AppData\Roaming\Kingsoft\office6\templates\download\kaiwpp\icon21581534WPSMBID2158153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1969602" y="1082652"/>
            <a:ext cx="349044" cy="349729"/>
          </a:xfrm>
          <a:prstGeom prst="rect">
            <a:avLst/>
          </a:prstGeom>
        </p:spPr>
      </p:pic>
      <p:pic>
        <p:nvPicPr>
          <p:cNvPr id="52" name="图形 25" descr="C:\Users\lenovo\AppData\Roaming\Kingsoft\office6\templates\download\kaiwpp\icon21540402WPSMBID2154040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881976" y="1082652"/>
            <a:ext cx="349044" cy="349044"/>
          </a:xfrm>
          <a:prstGeom prst="rect">
            <a:avLst/>
          </a:prstGeom>
        </p:spPr>
      </p:pic>
      <p:pic>
        <p:nvPicPr>
          <p:cNvPr id="53" name="图形 26" descr="C:\Users\lenovo\AppData\Roaming\Kingsoft\office6\templates\download\kaiwpp\icon4721226WPSMBID472122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9925755" y="1102500"/>
            <a:ext cx="311402" cy="312087"/>
          </a:xfrm>
          <a:prstGeom prst="rect">
            <a:avLst/>
          </a:prstGeom>
        </p:spPr>
      </p:pic>
      <p:grpSp>
        <p:nvGrpSpPr>
          <p:cNvPr id="64" name="组合 63"/>
          <p:cNvGrpSpPr/>
          <p:nvPr/>
        </p:nvGrpSpPr>
        <p:grpSpPr>
          <a:xfrm>
            <a:off x="302260" y="5927090"/>
            <a:ext cx="11674475" cy="680720"/>
            <a:chOff x="567" y="9334"/>
            <a:chExt cx="18385" cy="1072"/>
          </a:xfrm>
        </p:grpSpPr>
        <p:sp>
          <p:nvSpPr>
            <p:cNvPr id="54" name="矩形 53"/>
            <p:cNvSpPr/>
            <p:nvPr/>
          </p:nvSpPr>
          <p:spPr>
            <a:xfrm>
              <a:off x="567" y="9334"/>
              <a:ext cx="2388" cy="1073"/>
            </a:xfrm>
            <a:prstGeom prst="rect">
              <a:avLst/>
            </a:prstGeom>
            <a:solidFill>
              <a:srgbClr val="3DB5AF"/>
            </a:solidFill>
            <a:ln>
              <a:solidFill>
                <a:srgbClr val="3DB5A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技术栈覆盖</a:t>
              </a:r>
              <a:endPara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6" name="虚尾箭头 55"/>
            <p:cNvSpPr/>
            <p:nvPr/>
          </p:nvSpPr>
          <p:spPr>
            <a:xfrm>
              <a:off x="3178" y="9462"/>
              <a:ext cx="491" cy="818"/>
            </a:xfrm>
            <a:prstGeom prst="stripedRightArrow">
              <a:avLst/>
            </a:prstGeom>
            <a:solidFill>
              <a:srgbClr val="0966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3892" y="9336"/>
              <a:ext cx="15060" cy="1070"/>
              <a:chOff x="4091" y="9334"/>
              <a:chExt cx="15060" cy="1070"/>
            </a:xfrm>
          </p:grpSpPr>
          <p:sp>
            <p:nvSpPr>
              <p:cNvPr id="57" name="圓角矩形 18"/>
              <p:cNvSpPr/>
              <p:nvPr/>
            </p:nvSpPr>
            <p:spPr>
              <a:xfrm>
                <a:off x="4091" y="9334"/>
                <a:ext cx="1010" cy="1071"/>
              </a:xfrm>
              <a:prstGeom prst="rect">
                <a:avLst/>
              </a:prstGeom>
              <a:noFill/>
              <a:ln>
                <a:solidFill>
                  <a:srgbClr val="0966C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err="1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b="1" dirty="0" err="1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ue</a:t>
                </a:r>
                <a:endParaRPr lang="en-US" altLang="zh-CN" b="1" dirty="0" err="1" smtClean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圓角矩形 21"/>
              <p:cNvSpPr/>
              <p:nvPr/>
            </p:nvSpPr>
            <p:spPr>
              <a:xfrm>
                <a:off x="5256" y="9334"/>
                <a:ext cx="5277" cy="1071"/>
              </a:xfrm>
              <a:prstGeom prst="rect">
                <a:avLst/>
              </a:prstGeom>
              <a:noFill/>
              <a:ln>
                <a:solidFill>
                  <a:srgbClr val="0966C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Spring Boot / Spring Cloud</a:t>
                </a:r>
                <a:endParaRPr lang="en-US" altLang="zh-TW" b="1" dirty="0" smtClean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圓角矩形 22"/>
              <p:cNvSpPr/>
              <p:nvPr/>
            </p:nvSpPr>
            <p:spPr>
              <a:xfrm>
                <a:off x="10688" y="9334"/>
                <a:ext cx="4149" cy="1071"/>
              </a:xfrm>
              <a:prstGeom prst="rect">
                <a:avLst/>
              </a:prstGeom>
              <a:noFill/>
              <a:ln>
                <a:solidFill>
                  <a:srgbClr val="0966C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en-US" altLang="zh-CN" b="1" dirty="0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racle / PostgreSQL</a:t>
                </a:r>
                <a:endParaRPr lang="en-US" altLang="zh-CN" b="1" dirty="0" smtClean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圓角矩形 29"/>
              <p:cNvSpPr/>
              <p:nvPr/>
            </p:nvSpPr>
            <p:spPr>
              <a:xfrm>
                <a:off x="14992" y="9334"/>
                <a:ext cx="2326" cy="1071"/>
              </a:xfrm>
              <a:prstGeom prst="rect">
                <a:avLst/>
              </a:prstGeom>
              <a:noFill/>
              <a:ln>
                <a:solidFill>
                  <a:srgbClr val="0966C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err="1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RabbitMQ</a:t>
                </a:r>
                <a:endParaRPr lang="en-US" altLang="zh-TW" b="1" dirty="0" err="1" smtClean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圓角矩形 30"/>
              <p:cNvSpPr/>
              <p:nvPr/>
            </p:nvSpPr>
            <p:spPr>
              <a:xfrm>
                <a:off x="17473" y="9334"/>
                <a:ext cx="1679" cy="1071"/>
              </a:xfrm>
              <a:prstGeom prst="rect">
                <a:avLst/>
              </a:prstGeom>
              <a:noFill/>
              <a:ln>
                <a:solidFill>
                  <a:srgbClr val="0966C3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rgbClr val="0966C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Docker</a:t>
                </a:r>
                <a:endParaRPr lang="en-US" altLang="zh-TW" b="1" dirty="0" smtClean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长与感悟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1"/>
            </p:custDataLst>
          </p:nvPr>
        </p:nvGrpSpPr>
        <p:grpSpPr>
          <a:xfrm>
            <a:off x="355600" y="858520"/>
            <a:ext cx="11445240" cy="1717675"/>
            <a:chOff x="560" y="1843"/>
            <a:chExt cx="18024" cy="2360"/>
          </a:xfrm>
        </p:grpSpPr>
        <p:sp useBgFill="1">
          <p:nvSpPr>
            <p:cNvPr id="45" name="单圆角矩形 5"/>
            <p:cNvSpPr/>
            <p:nvPr>
              <p:custDataLst>
                <p:tags r:id="rId2"/>
              </p:custDataLst>
            </p:nvPr>
          </p:nvSpPr>
          <p:spPr>
            <a:xfrm>
              <a:off x="560" y="1843"/>
              <a:ext cx="18025" cy="2360"/>
            </a:xfrm>
            <a:prstGeom prst="round1Rect">
              <a:avLst>
                <a:gd name="adj" fmla="val 0"/>
              </a:avLst>
            </a:prstGeom>
            <a:gradFill>
              <a:gsLst>
                <a:gs pos="0">
                  <a:srgbClr val="376FFF">
                    <a:lumOff val="17500"/>
                  </a:srgbClr>
                </a:gs>
                <a:gs pos="100000">
                  <a:srgbClr val="376FFF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4A90E2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单圆角矩形 5"/>
            <p:cNvSpPr/>
            <p:nvPr>
              <p:custDataLst>
                <p:tags r:id="rId3"/>
              </p:custDataLst>
            </p:nvPr>
          </p:nvSpPr>
          <p:spPr>
            <a:xfrm>
              <a:off x="560" y="1843"/>
              <a:ext cx="18025" cy="236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 w="12700" cap="flat" cmpd="sng" algn="ctr">
              <a:solidFill>
                <a:srgbClr val="4A90E2">
                  <a:alpha val="35000"/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4"/>
              </p:custDataLst>
            </p:nvPr>
          </p:nvSpPr>
          <p:spPr>
            <a:xfrm>
              <a:off x="1702" y="1995"/>
              <a:ext cx="16404" cy="72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技术能力的成长</a:t>
              </a:r>
              <a:endParaRPr lang="zh-CN" altLang="en-US" sz="2400" b="1">
                <a:solidFill>
                  <a:srgbClr val="0966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1702" y="2814"/>
              <a:ext cx="164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从理解到实践：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通过项目实践、将理论知识高效转化为解决实际问题的核心能力。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解决复杂问题：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锻炼分析思维，解决前端复杂</a:t>
              </a:r>
              <a:r>
                <a:rPr lang="en-US" altLang="zh-CN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UI 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交付与性能优化问题。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圆角矩形 19"/>
            <p:cNvSpPr/>
            <p:nvPr>
              <p:custDataLst>
                <p:tags r:id="rId6"/>
              </p:custDataLst>
            </p:nvPr>
          </p:nvSpPr>
          <p:spPr>
            <a:xfrm rot="5400000">
              <a:off x="564" y="2342"/>
              <a:ext cx="724" cy="73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rgbClr val="4A90E2">
                    <a:alpha val="100000"/>
                  </a:srgbClr>
                </a:gs>
                <a:gs pos="0">
                  <a:srgbClr val="4A90E2">
                    <a:lumMod val="70000"/>
                    <a:lumOff val="30000"/>
                    <a:alpha val="100000"/>
                  </a:srgbClr>
                </a:gs>
              </a:gsLst>
              <a:lin ang="13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4A90E2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燕尾形 20"/>
            <p:cNvSpPr/>
            <p:nvPr>
              <p:custDataLst>
                <p:tags r:id="rId7"/>
              </p:custDataLst>
            </p:nvPr>
          </p:nvSpPr>
          <p:spPr>
            <a:xfrm>
              <a:off x="831" y="2568"/>
              <a:ext cx="190" cy="282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8"/>
            </p:custDataLst>
          </p:nvPr>
        </p:nvGrpSpPr>
        <p:grpSpPr>
          <a:xfrm>
            <a:off x="355600" y="2791460"/>
            <a:ext cx="11445240" cy="1764665"/>
            <a:chOff x="560" y="4576"/>
            <a:chExt cx="18024" cy="2425"/>
          </a:xfrm>
        </p:grpSpPr>
        <p:sp useBgFill="1">
          <p:nvSpPr>
            <p:cNvPr id="21" name="单圆角矩形 5"/>
            <p:cNvSpPr/>
            <p:nvPr>
              <p:custDataLst>
                <p:tags r:id="rId9"/>
              </p:custDataLst>
            </p:nvPr>
          </p:nvSpPr>
          <p:spPr>
            <a:xfrm>
              <a:off x="560" y="4576"/>
              <a:ext cx="18025" cy="2421"/>
            </a:xfrm>
            <a:prstGeom prst="round1Rect">
              <a:avLst>
                <a:gd name="adj" fmla="val 0"/>
              </a:avLst>
            </a:prstGeom>
            <a:gradFill>
              <a:gsLst>
                <a:gs pos="0">
                  <a:srgbClr val="376FFF">
                    <a:lumOff val="17500"/>
                  </a:srgbClr>
                </a:gs>
                <a:gs pos="100000">
                  <a:srgbClr val="376FFF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58B957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单圆角矩形 5"/>
            <p:cNvSpPr/>
            <p:nvPr>
              <p:custDataLst>
                <p:tags r:id="rId10"/>
              </p:custDataLst>
            </p:nvPr>
          </p:nvSpPr>
          <p:spPr>
            <a:xfrm>
              <a:off x="560" y="4593"/>
              <a:ext cx="18025" cy="2408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 w="12700" cap="flat" cmpd="sng" algn="ctr">
              <a:solidFill>
                <a:srgbClr val="58B957">
                  <a:alpha val="35000"/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1"/>
              </p:custDataLst>
            </p:nvPr>
          </p:nvSpPr>
          <p:spPr>
            <a:xfrm>
              <a:off x="1702" y="4752"/>
              <a:ext cx="16404" cy="72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58B95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业务理解的深化</a:t>
              </a:r>
              <a:endParaRPr lang="zh-CN" altLang="en-US" sz="2400" b="1">
                <a:solidFill>
                  <a:srgbClr val="58B9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2"/>
              </p:custDataLst>
            </p:nvPr>
          </p:nvSpPr>
          <p:spPr>
            <a:xfrm>
              <a:off x="1702" y="5571"/>
              <a:ext cx="1640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67C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视角的转变：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从单一技术角度转向业务视角，梳理需求与设计文档，开发更贴合用户真实需求的功能。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67C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宏观业务认知：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深入理解跨系统的业务关联逻辑，对整体业务框架有了更宏观的认知。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圆角矩形 19"/>
            <p:cNvSpPr/>
            <p:nvPr>
              <p:custDataLst>
                <p:tags r:id="rId13"/>
              </p:custDataLst>
            </p:nvPr>
          </p:nvSpPr>
          <p:spPr>
            <a:xfrm rot="5400000">
              <a:off x="564" y="5076"/>
              <a:ext cx="724" cy="73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rgbClr val="58B957">
                    <a:alpha val="100000"/>
                  </a:srgbClr>
                </a:gs>
                <a:gs pos="0">
                  <a:srgbClr val="58B957">
                    <a:lumMod val="70000"/>
                    <a:lumOff val="30000"/>
                    <a:alpha val="100000"/>
                  </a:srgbClr>
                </a:gs>
              </a:gsLst>
              <a:lin ang="13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58B957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燕尾形 20"/>
            <p:cNvSpPr/>
            <p:nvPr>
              <p:custDataLst>
                <p:tags r:id="rId14"/>
              </p:custDataLst>
            </p:nvPr>
          </p:nvSpPr>
          <p:spPr>
            <a:xfrm>
              <a:off x="831" y="5301"/>
              <a:ext cx="190" cy="282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5"/>
            </p:custDataLst>
          </p:nvPr>
        </p:nvGrpSpPr>
        <p:grpSpPr>
          <a:xfrm>
            <a:off x="355600" y="4771390"/>
            <a:ext cx="11445240" cy="1720215"/>
            <a:chOff x="560" y="7375"/>
            <a:chExt cx="18024" cy="2364"/>
          </a:xfrm>
        </p:grpSpPr>
        <p:sp useBgFill="1">
          <p:nvSpPr>
            <p:cNvPr id="91" name="单圆角矩形 5"/>
            <p:cNvSpPr/>
            <p:nvPr>
              <p:custDataLst>
                <p:tags r:id="rId16"/>
              </p:custDataLst>
            </p:nvPr>
          </p:nvSpPr>
          <p:spPr>
            <a:xfrm>
              <a:off x="560" y="7375"/>
              <a:ext cx="18025" cy="2364"/>
            </a:xfrm>
            <a:prstGeom prst="round1Rect">
              <a:avLst>
                <a:gd name="adj" fmla="val 0"/>
              </a:avLst>
            </a:prstGeom>
            <a:gradFill>
              <a:gsLst>
                <a:gs pos="0">
                  <a:srgbClr val="376FFF">
                    <a:lumOff val="17500"/>
                  </a:srgbClr>
                </a:gs>
                <a:gs pos="100000">
                  <a:srgbClr val="376FFF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4A90E2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单圆角矩形 5"/>
            <p:cNvSpPr/>
            <p:nvPr>
              <p:custDataLst>
                <p:tags r:id="rId17"/>
              </p:custDataLst>
            </p:nvPr>
          </p:nvSpPr>
          <p:spPr>
            <a:xfrm>
              <a:off x="560" y="7378"/>
              <a:ext cx="18025" cy="236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 w="12700" cap="flat" cmpd="sng" algn="ctr">
              <a:solidFill>
                <a:srgbClr val="4A90E2">
                  <a:alpha val="35000"/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8"/>
              </p:custDataLst>
            </p:nvPr>
          </p:nvSpPr>
          <p:spPr>
            <a:xfrm>
              <a:off x="1702" y="7484"/>
              <a:ext cx="16404" cy="72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团队协作的感悟</a:t>
              </a:r>
              <a:endParaRPr lang="zh-CN" altLang="en-US" sz="2400" b="1">
                <a:solidFill>
                  <a:srgbClr val="0966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9"/>
              </p:custDataLst>
            </p:nvPr>
          </p:nvSpPr>
          <p:spPr>
            <a:xfrm>
              <a:off x="1702" y="8302"/>
              <a:ext cx="164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理解与沟通：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保持信息同步与高效沟通，尽量避免返工，提升团队整体开发效率。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 fontAlgn="auto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rgbClr val="0966C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协作与分享：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配合项目</a:t>
              </a:r>
              <a:r>
                <a:rPr lang="en-US" altLang="zh-CN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Dri </a:t>
              </a:r>
              <a:r>
                <a:rPr lang="zh-CN" altLang="en-US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与团队成员，做好模块自身功能并提供必要的数据接口。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4" name="圆角矩形 19"/>
            <p:cNvSpPr/>
            <p:nvPr>
              <p:custDataLst>
                <p:tags r:id="rId20"/>
              </p:custDataLst>
            </p:nvPr>
          </p:nvSpPr>
          <p:spPr>
            <a:xfrm rot="5400000">
              <a:off x="564" y="7703"/>
              <a:ext cx="724" cy="73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rgbClr val="4A90E2">
                    <a:alpha val="100000"/>
                  </a:srgbClr>
                </a:gs>
                <a:gs pos="0">
                  <a:srgbClr val="4A90E2">
                    <a:lumMod val="70000"/>
                    <a:lumOff val="30000"/>
                    <a:alpha val="100000"/>
                  </a:srgbClr>
                </a:gs>
              </a:gsLst>
              <a:lin ang="13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03200" dist="76200" dir="8100000" algn="tr" rotWithShape="0">
                <a:srgbClr val="4A90E2">
                  <a:alpha val="20000"/>
                  <a:lumMod val="75000"/>
                </a:srgbClr>
              </a:outerShdw>
            </a:effectLst>
          </p:spPr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algn="ctr"/>
              <a:endParaRPr lang="zh-CN" altLang="en-US" sz="2400" b="1" spc="30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燕尾形 20"/>
            <p:cNvSpPr/>
            <p:nvPr>
              <p:custDataLst>
                <p:tags r:id="rId21"/>
              </p:custDataLst>
            </p:nvPr>
          </p:nvSpPr>
          <p:spPr>
            <a:xfrm>
              <a:off x="831" y="7928"/>
              <a:ext cx="190" cy="282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>
              <a:noAutofit/>
            </a:bodyPr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247588" y="311270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工作建议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04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工作建议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椭圆 65"/>
          <p:cNvSpPr/>
          <p:nvPr>
            <p:custDataLst>
              <p:tags r:id="rId1"/>
            </p:custDataLst>
          </p:nvPr>
        </p:nvSpPr>
        <p:spPr>
          <a:xfrm>
            <a:off x="3914270" y="1454828"/>
            <a:ext cx="4302309" cy="4302309"/>
          </a:xfrm>
          <a:prstGeom prst="ellipse">
            <a:avLst/>
          </a:prstGeom>
          <a:solidFill>
            <a:srgbClr val="FEFFFF"/>
          </a:solidFill>
          <a:ln w="12700" cap="flat" cmpd="sng" algn="ctr">
            <a:noFill/>
            <a:prstDash val="solid"/>
            <a:miter lim="800000"/>
          </a:ln>
          <a:effectLst>
            <a:outerShdw blurRad="152400" sx="106000" sy="106000" algn="ctr" rotWithShape="0">
              <a:srgbClr val="000000">
                <a:lumMod val="65000"/>
                <a:lumOff val="35000"/>
                <a:alpha val="5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12"/>
          <p:cNvSpPr/>
          <p:nvPr>
            <p:custDataLst>
              <p:tags r:id="rId2"/>
            </p:custDataLst>
          </p:nvPr>
        </p:nvSpPr>
        <p:spPr>
          <a:xfrm rot="5400000">
            <a:off x="4557303" y="2070875"/>
            <a:ext cx="548969" cy="241253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3" h="3937">
                <a:moveTo>
                  <a:pt x="293" y="0"/>
                </a:moveTo>
                <a:lnTo>
                  <a:pt x="293" y="3937"/>
                </a:lnTo>
                <a:lnTo>
                  <a:pt x="293" y="3937"/>
                </a:lnTo>
                <a:cubicBezTo>
                  <a:pt x="125" y="3730"/>
                  <a:pt x="0" y="2927"/>
                  <a:pt x="0" y="1969"/>
                </a:cubicBezTo>
                <a:cubicBezTo>
                  <a:pt x="0" y="1010"/>
                  <a:pt x="125" y="207"/>
                  <a:pt x="293" y="0"/>
                </a:cubicBezTo>
                <a:lnTo>
                  <a:pt x="293" y="0"/>
                </a:lnTo>
                <a:close/>
              </a:path>
            </a:pathLst>
          </a:custGeom>
          <a:gradFill>
            <a:gsLst>
              <a:gs pos="81000">
                <a:srgbClr val="1A73E8">
                  <a:alpha val="0"/>
                </a:srgbClr>
              </a:gs>
              <a:gs pos="100000">
                <a:srgbClr val="1A73E8">
                  <a:alpha val="10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任意多边形 12"/>
          <p:cNvSpPr/>
          <p:nvPr>
            <p:custDataLst>
              <p:tags r:id="rId3"/>
            </p:custDataLst>
          </p:nvPr>
        </p:nvSpPr>
        <p:spPr>
          <a:xfrm rot="10800000">
            <a:off x="6092410" y="1166465"/>
            <a:ext cx="548969" cy="241253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3" h="3937">
                <a:moveTo>
                  <a:pt x="293" y="0"/>
                </a:moveTo>
                <a:lnTo>
                  <a:pt x="293" y="3937"/>
                </a:lnTo>
                <a:lnTo>
                  <a:pt x="293" y="3937"/>
                </a:lnTo>
                <a:cubicBezTo>
                  <a:pt x="125" y="3730"/>
                  <a:pt x="0" y="2927"/>
                  <a:pt x="0" y="1969"/>
                </a:cubicBezTo>
                <a:cubicBezTo>
                  <a:pt x="0" y="1010"/>
                  <a:pt x="125" y="207"/>
                  <a:pt x="293" y="0"/>
                </a:cubicBezTo>
                <a:lnTo>
                  <a:pt x="293" y="0"/>
                </a:lnTo>
                <a:close/>
              </a:path>
            </a:pathLst>
          </a:custGeom>
          <a:gradFill>
            <a:gsLst>
              <a:gs pos="81000">
                <a:srgbClr val="34A853">
                  <a:alpha val="0"/>
                </a:srgbClr>
              </a:gs>
              <a:gs pos="100000">
                <a:srgbClr val="34A853">
                  <a:alpha val="10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7" name="任意多边形 12"/>
          <p:cNvSpPr/>
          <p:nvPr>
            <p:custDataLst>
              <p:tags r:id="rId4"/>
            </p:custDataLst>
          </p:nvPr>
        </p:nvSpPr>
        <p:spPr>
          <a:xfrm rot="16200000">
            <a:off x="6966750" y="2650684"/>
            <a:ext cx="548969" cy="241253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3" h="3937">
                <a:moveTo>
                  <a:pt x="293" y="0"/>
                </a:moveTo>
                <a:lnTo>
                  <a:pt x="293" y="3937"/>
                </a:lnTo>
                <a:lnTo>
                  <a:pt x="293" y="3937"/>
                </a:lnTo>
                <a:cubicBezTo>
                  <a:pt x="125" y="3730"/>
                  <a:pt x="0" y="2927"/>
                  <a:pt x="0" y="1969"/>
                </a:cubicBezTo>
                <a:cubicBezTo>
                  <a:pt x="0" y="1010"/>
                  <a:pt x="125" y="207"/>
                  <a:pt x="293" y="0"/>
                </a:cubicBezTo>
                <a:lnTo>
                  <a:pt x="293" y="0"/>
                </a:lnTo>
                <a:close/>
              </a:path>
            </a:pathLst>
          </a:custGeom>
          <a:gradFill>
            <a:gsLst>
              <a:gs pos="81000">
                <a:srgbClr val="1A73E8">
                  <a:alpha val="0"/>
                </a:srgbClr>
              </a:gs>
              <a:gs pos="100000">
                <a:srgbClr val="1A73E8">
                  <a:alpha val="10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" name="任意多边形 12"/>
          <p:cNvSpPr/>
          <p:nvPr>
            <p:custDataLst>
              <p:tags r:id="rId5"/>
            </p:custDataLst>
          </p:nvPr>
        </p:nvSpPr>
        <p:spPr>
          <a:xfrm>
            <a:off x="5538815" y="3578996"/>
            <a:ext cx="548969" cy="241253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3" h="3937">
                <a:moveTo>
                  <a:pt x="293" y="0"/>
                </a:moveTo>
                <a:lnTo>
                  <a:pt x="293" y="3937"/>
                </a:lnTo>
                <a:lnTo>
                  <a:pt x="293" y="3937"/>
                </a:lnTo>
                <a:cubicBezTo>
                  <a:pt x="125" y="3730"/>
                  <a:pt x="0" y="2927"/>
                  <a:pt x="0" y="1969"/>
                </a:cubicBezTo>
                <a:cubicBezTo>
                  <a:pt x="0" y="1010"/>
                  <a:pt x="125" y="207"/>
                  <a:pt x="293" y="0"/>
                </a:cubicBezTo>
                <a:lnTo>
                  <a:pt x="293" y="0"/>
                </a:lnTo>
                <a:close/>
              </a:path>
            </a:pathLst>
          </a:custGeom>
          <a:gradFill>
            <a:gsLst>
              <a:gs pos="81000">
                <a:srgbClr val="34A853">
                  <a:alpha val="0"/>
                </a:srgbClr>
              </a:gs>
              <a:gs pos="100000">
                <a:srgbClr val="34A853">
                  <a:alpha val="10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0" name="弧形 79"/>
          <p:cNvSpPr/>
          <p:nvPr>
            <p:custDataLst>
              <p:tags r:id="rId6"/>
            </p:custDataLst>
          </p:nvPr>
        </p:nvSpPr>
        <p:spPr>
          <a:xfrm rot="16200000">
            <a:off x="3697612" y="1217352"/>
            <a:ext cx="4800390" cy="4800390"/>
          </a:xfrm>
          <a:prstGeom prst="arc">
            <a:avLst>
              <a:gd name="adj1" fmla="val 16392741"/>
              <a:gd name="adj2" fmla="val 21318419"/>
            </a:avLst>
          </a:prstGeom>
          <a:noFill/>
          <a:ln w="6350" cap="flat" cmpd="sng" algn="ctr">
            <a:gradFill>
              <a:gsLst>
                <a:gs pos="25000">
                  <a:srgbClr val="376FFF">
                    <a:alpha val="0"/>
                  </a:srgbClr>
                </a:gs>
                <a:gs pos="60000">
                  <a:srgbClr val="1A73E8">
                    <a:alpha val="80000"/>
                  </a:srgbClr>
                </a:gs>
              </a:gsLst>
              <a:lin ang="0" scaled="1"/>
            </a:gradFill>
            <a:prstDash val="solid"/>
            <a:miter lim="800000"/>
            <a:tailEnd type="triangle"/>
          </a:ln>
          <a:effectLst>
            <a:outerShdw blurRad="50800" dist="38100" dir="2700000" algn="tl" rotWithShape="0">
              <a:srgbClr val="1A73E8">
                <a:alpha val="40000"/>
                <a:lumMod val="75000"/>
              </a:srgb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弧形 80"/>
          <p:cNvSpPr/>
          <p:nvPr>
            <p:custDataLst>
              <p:tags r:id="rId7"/>
            </p:custDataLst>
          </p:nvPr>
        </p:nvSpPr>
        <p:spPr>
          <a:xfrm>
            <a:off x="3669855" y="1208100"/>
            <a:ext cx="4800390" cy="4800390"/>
          </a:xfrm>
          <a:prstGeom prst="arc">
            <a:avLst>
              <a:gd name="adj1" fmla="val 16392741"/>
              <a:gd name="adj2" fmla="val 21318419"/>
            </a:avLst>
          </a:prstGeom>
          <a:noFill/>
          <a:ln w="6350" cap="flat" cmpd="sng" algn="ctr">
            <a:gradFill>
              <a:gsLst>
                <a:gs pos="25000">
                  <a:srgbClr val="34A853">
                    <a:alpha val="0"/>
                  </a:srgbClr>
                </a:gs>
                <a:gs pos="60000">
                  <a:srgbClr val="34A853">
                    <a:alpha val="80000"/>
                  </a:srgbClr>
                </a:gs>
              </a:gsLst>
              <a:lin ang="0" scaled="1"/>
            </a:gradFill>
            <a:prstDash val="solid"/>
            <a:miter lim="800000"/>
            <a:tailEnd type="triangle"/>
          </a:ln>
          <a:effectLst>
            <a:outerShdw blurRad="50800" dist="38100" dir="2700000" algn="tl" rotWithShape="0">
              <a:srgbClr val="34A853">
                <a:alpha val="40000"/>
                <a:lumMod val="75000"/>
              </a:srgb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弧形 81"/>
          <p:cNvSpPr/>
          <p:nvPr>
            <p:custDataLst>
              <p:tags r:id="rId8"/>
            </p:custDataLst>
          </p:nvPr>
        </p:nvSpPr>
        <p:spPr>
          <a:xfrm rot="10800000">
            <a:off x="3697612" y="1194993"/>
            <a:ext cx="4800390" cy="4800390"/>
          </a:xfrm>
          <a:prstGeom prst="arc">
            <a:avLst>
              <a:gd name="adj1" fmla="val 16392741"/>
              <a:gd name="adj2" fmla="val 21318419"/>
            </a:avLst>
          </a:prstGeom>
          <a:noFill/>
          <a:ln w="6350" cap="flat" cmpd="sng" algn="ctr">
            <a:gradFill>
              <a:gsLst>
                <a:gs pos="25000">
                  <a:srgbClr val="34A853">
                    <a:alpha val="0"/>
                  </a:srgbClr>
                </a:gs>
                <a:gs pos="60000">
                  <a:srgbClr val="34A853">
                    <a:alpha val="80000"/>
                  </a:srgbClr>
                </a:gs>
              </a:gsLst>
              <a:lin ang="0" scaled="1"/>
            </a:gradFill>
            <a:prstDash val="solid"/>
            <a:miter lim="800000"/>
            <a:tailEnd type="triangle"/>
          </a:ln>
          <a:effectLst>
            <a:outerShdw blurRad="50800" dist="38100" dir="2700000" algn="tl" rotWithShape="0">
              <a:srgbClr val="34A853">
                <a:alpha val="40000"/>
                <a:lumMod val="75000"/>
              </a:srgb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弧形 82"/>
          <p:cNvSpPr/>
          <p:nvPr>
            <p:custDataLst>
              <p:tags r:id="rId9"/>
            </p:custDataLst>
          </p:nvPr>
        </p:nvSpPr>
        <p:spPr>
          <a:xfrm rot="5400000">
            <a:off x="3679879" y="1170320"/>
            <a:ext cx="4800390" cy="4800390"/>
          </a:xfrm>
          <a:prstGeom prst="arc">
            <a:avLst>
              <a:gd name="adj1" fmla="val 16392741"/>
              <a:gd name="adj2" fmla="val 21318419"/>
            </a:avLst>
          </a:prstGeom>
          <a:noFill/>
          <a:ln w="6350" cap="flat" cmpd="sng" algn="ctr">
            <a:gradFill>
              <a:gsLst>
                <a:gs pos="25000">
                  <a:srgbClr val="1A73E8">
                    <a:alpha val="0"/>
                  </a:srgbClr>
                </a:gs>
                <a:gs pos="60000">
                  <a:srgbClr val="1A73E8">
                    <a:alpha val="80000"/>
                  </a:srgbClr>
                </a:gs>
              </a:gsLst>
              <a:lin ang="0" scaled="1"/>
            </a:gradFill>
            <a:prstDash val="solid"/>
            <a:miter lim="800000"/>
            <a:tailEnd type="triangle"/>
          </a:ln>
          <a:effectLst>
            <a:outerShdw blurRad="50800" dist="38100" dir="2700000" algn="tl" rotWithShape="0">
              <a:srgbClr val="1A73E8">
                <a:alpha val="40000"/>
                <a:lumMod val="75000"/>
              </a:srgb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8933631" y="2082440"/>
            <a:ext cx="2944538" cy="127527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XXXXXXXXXXXXXXXXXXXXXXXXXXXX</a:t>
            </a:r>
            <a:endParaRPr lang="en-US" altLang="zh-CN" sz="7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8933631" y="1443262"/>
            <a:ext cx="2944538" cy="6276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34A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规范代码提交</a:t>
            </a:r>
            <a:endParaRPr lang="zh-CN" altLang="en-US" sz="2000" b="1">
              <a:solidFill>
                <a:srgbClr val="34A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8895079" y="4695438"/>
            <a:ext cx="2944538" cy="127527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XXXXXXXXXXXXXXXXXXXXXXXXXXXXXXXXXXXXXXXX</a:t>
            </a:r>
            <a:endParaRPr lang="en-US" sz="7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8895079" y="4056260"/>
            <a:ext cx="2944538" cy="6276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A7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优化开发流程</a:t>
            </a:r>
            <a:endParaRPr lang="zh-CN" altLang="en-US" sz="2000" b="1">
              <a:solidFill>
                <a:srgbClr val="1A73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394548" y="2059310"/>
            <a:ext cx="2944538" cy="127527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XXXXXXXXXXXXXXXXXXXXXXXXX</a:t>
            </a:r>
            <a:endParaRPr lang="en-US" altLang="zh-CN" sz="7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394548" y="1420131"/>
            <a:ext cx="2944538" cy="6276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A7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强化代码规范</a:t>
            </a:r>
            <a:endParaRPr lang="zh-CN" altLang="en-US" sz="2000" b="1">
              <a:solidFill>
                <a:srgbClr val="1A73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355996" y="4672307"/>
            <a:ext cx="2944538" cy="127527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XXXXXXXXXXXXXXXXXXXXXXXXXXXXXXXXXXXXXX</a:t>
            </a:r>
            <a:endParaRPr lang="en-US" altLang="zh-CN" sz="7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355996" y="4033129"/>
            <a:ext cx="2944538" cy="6276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34A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推广新技术的分享与实践</a:t>
            </a:r>
            <a:endParaRPr lang="zh-CN" altLang="en-US" sz="2000" b="1">
              <a:solidFill>
                <a:srgbClr val="34A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" name="任意多边形: 形状 14"/>
          <p:cNvSpPr/>
          <p:nvPr>
            <p:custDataLst>
              <p:tags r:id="rId18"/>
            </p:custDataLst>
          </p:nvPr>
        </p:nvSpPr>
        <p:spPr>
          <a:xfrm>
            <a:off x="4185670" y="2480288"/>
            <a:ext cx="2148842" cy="1074035"/>
          </a:xfrm>
          <a:custGeom>
            <a:avLst/>
            <a:gdLst>
              <a:gd name="connsiteX0" fmla="*/ 1019175 w 2038350"/>
              <a:gd name="connsiteY0" fmla="*/ 0 h 1019175"/>
              <a:gd name="connsiteX1" fmla="*/ 2038350 w 2038350"/>
              <a:gd name="connsiteY1" fmla="*/ 1019175 h 1019175"/>
              <a:gd name="connsiteX2" fmla="*/ 0 w 2038350"/>
              <a:gd name="connsiteY2" fmla="*/ 1019175 h 1019175"/>
              <a:gd name="connsiteX3" fmla="*/ 1019175 w 2038350"/>
              <a:gd name="connsiteY3" fmla="*/ 0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019175">
                <a:moveTo>
                  <a:pt x="1019175" y="0"/>
                </a:moveTo>
                <a:cubicBezTo>
                  <a:pt x="1582050" y="0"/>
                  <a:pt x="2038350" y="456300"/>
                  <a:pt x="2038350" y="1019175"/>
                </a:cubicBezTo>
                <a:lnTo>
                  <a:pt x="0" y="1019175"/>
                </a:lnTo>
                <a:cubicBezTo>
                  <a:pt x="0" y="456300"/>
                  <a:pt x="456300" y="0"/>
                  <a:pt x="1019175" y="0"/>
                </a:cubicBezTo>
                <a:close/>
              </a:path>
            </a:pathLst>
          </a:custGeom>
          <a:gradFill>
            <a:gsLst>
              <a:gs pos="0">
                <a:srgbClr val="1A73E8">
                  <a:lumMod val="60000"/>
                  <a:lumOff val="40000"/>
                  <a:alpha val="100000"/>
                </a:srgbClr>
              </a:gs>
              <a:gs pos="100000">
                <a:srgbClr val="1A73E8"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sx="105000" sy="105000" algn="ctr" rotWithShape="0">
              <a:srgbClr val="1A73E8">
                <a:alpha val="20000"/>
              </a:srgbClr>
            </a:outerShdw>
          </a:effectLst>
        </p:spPr>
        <p:txBody>
          <a:bodyPr vertOverflow="overflow" horzOverflow="overflow" vert="horz" wrap="none" tIns="107950" rIns="323850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altLang="zh-CN" b="1" dirty="0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19"/>
            </p:custDataLst>
          </p:nvPr>
        </p:nvSpPr>
        <p:spPr>
          <a:xfrm>
            <a:off x="6094723" y="1693845"/>
            <a:ext cx="1074035" cy="214884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93" h="2787">
                <a:moveTo>
                  <a:pt x="0" y="0"/>
                </a:moveTo>
                <a:cubicBezTo>
                  <a:pt x="769" y="0"/>
                  <a:pt x="1393" y="624"/>
                  <a:pt x="1393" y="1394"/>
                </a:cubicBezTo>
                <a:cubicBezTo>
                  <a:pt x="1393" y="2163"/>
                  <a:pt x="769" y="2787"/>
                  <a:pt x="0" y="278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4A853">
                  <a:lumMod val="60000"/>
                  <a:lumOff val="40000"/>
                  <a:alpha val="100000"/>
                </a:srgbClr>
              </a:gs>
              <a:gs pos="100000">
                <a:srgbClr val="34A853"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sx="106000" sy="106000" algn="ctr" rotWithShape="0">
              <a:srgbClr val="34A853">
                <a:alpha val="20000"/>
              </a:srgbClr>
            </a:outerShdw>
          </a:effectLst>
        </p:spPr>
        <p:txBody>
          <a:bodyPr vertOverflow="overflow" horzOverflow="overflow" vert="horz" wrap="none" lIns="71755" tIns="107950" rIns="107950" bIns="36004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b="1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20"/>
            </p:custDataLst>
          </p:nvPr>
        </p:nvSpPr>
        <p:spPr>
          <a:xfrm>
            <a:off x="5845683" y="3581309"/>
            <a:ext cx="2148842" cy="1074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87" h="1393">
                <a:moveTo>
                  <a:pt x="0" y="0"/>
                </a:moveTo>
                <a:lnTo>
                  <a:pt x="2787" y="0"/>
                </a:lnTo>
                <a:cubicBezTo>
                  <a:pt x="2787" y="769"/>
                  <a:pt x="2163" y="1393"/>
                  <a:pt x="1394" y="1393"/>
                </a:cubicBezTo>
                <a:cubicBezTo>
                  <a:pt x="624" y="1393"/>
                  <a:pt x="0" y="769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A73E8">
                  <a:lumMod val="60000"/>
                  <a:lumOff val="40000"/>
                  <a:alpha val="100000"/>
                </a:srgbClr>
              </a:gs>
              <a:gs pos="100000">
                <a:srgbClr val="1A73E8"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sx="105000" sy="105000" algn="ctr" rotWithShape="0">
              <a:srgbClr val="1A73E8">
                <a:alpha val="20000"/>
              </a:srgbClr>
            </a:outerShdw>
          </a:effectLst>
        </p:spPr>
        <p:txBody>
          <a:bodyPr vertOverflow="overflow" horzOverflow="overflow" vert="horz" wrap="none" lIns="504190" tIns="107950" bIns="14414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altLang="zh-CN" b="1" dirty="0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5018375" y="3312993"/>
            <a:ext cx="1074035" cy="214884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93" h="2787">
                <a:moveTo>
                  <a:pt x="1393" y="0"/>
                </a:moveTo>
                <a:lnTo>
                  <a:pt x="1393" y="2787"/>
                </a:lnTo>
                <a:cubicBezTo>
                  <a:pt x="624" y="2787"/>
                  <a:pt x="0" y="2163"/>
                  <a:pt x="0" y="1394"/>
                </a:cubicBezTo>
                <a:cubicBezTo>
                  <a:pt x="0" y="624"/>
                  <a:pt x="624" y="0"/>
                  <a:pt x="1393" y="0"/>
                </a:cubicBezTo>
                <a:close/>
              </a:path>
            </a:pathLst>
          </a:custGeom>
          <a:gradFill>
            <a:gsLst>
              <a:gs pos="0">
                <a:srgbClr val="34A853">
                  <a:lumMod val="60000"/>
                  <a:lumOff val="40000"/>
                  <a:alpha val="100000"/>
                </a:srgbClr>
              </a:gs>
              <a:gs pos="100000">
                <a:srgbClr val="34A853"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sx="105000" sy="105000" algn="ctr" rotWithShape="0">
              <a:srgbClr val="34A853">
                <a:alpha val="20000"/>
              </a:srgbClr>
            </a:outerShdw>
          </a:effectLst>
        </p:spPr>
        <p:txBody>
          <a:bodyPr vertOverflow="overflow" horzOverflow="overflow" vert="horz" wrap="none" lIns="179705" tIns="323850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en-US" altLang="zh-CN" b="1" dirty="0">
              <a:solidFill>
                <a:srgbClr val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9" name="椭圆 78"/>
          <p:cNvSpPr/>
          <p:nvPr>
            <p:custDataLst>
              <p:tags r:id="rId22"/>
            </p:custDataLst>
          </p:nvPr>
        </p:nvSpPr>
        <p:spPr>
          <a:xfrm>
            <a:off x="5376901" y="2902038"/>
            <a:ext cx="1410972" cy="14109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4580738" y="3112702"/>
            <a:ext cx="2852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参与最具价值专案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05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55980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COFA FA tracker For F1 new APP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4248917" y="3112702"/>
            <a:ext cx="35157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1~3</a:t>
            </a:r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年目标及生涯规划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3380" y="218937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06</a:t>
            </a:r>
            <a:endParaRPr lang="zh-TW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短期目标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470647" y="1680882"/>
            <a:ext cx="3321424" cy="462578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4495800" y="1680881"/>
            <a:ext cx="3321424" cy="462578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8520953" y="1680881"/>
            <a:ext cx="3321424" cy="462578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470647" y="940973"/>
            <a:ext cx="3227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1 </a:t>
            </a:r>
            <a:r>
              <a:rPr lang="zh-CN" altLang="en-US" sz="2000" b="1" dirty="0" smtClean="0"/>
              <a:t>年内</a:t>
            </a:r>
            <a:endParaRPr lang="zh-TW" altLang="en-US" sz="20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743275" y="1909483"/>
            <a:ext cx="212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技术深度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728086" y="1909483"/>
            <a:ext cx="212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业务精通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8896675" y="1909483"/>
            <a:ext cx="212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项目贡献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kumimoji="1"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期目标</a:t>
            </a:r>
            <a:endParaRPr kumimoji="1"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70647" y="942627"/>
            <a:ext cx="3227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3 </a:t>
            </a:r>
            <a:r>
              <a:rPr lang="zh-CN" altLang="en-US" sz="2000" b="1" dirty="0" smtClean="0"/>
              <a:t>年内</a:t>
            </a:r>
            <a:endParaRPr lang="zh-TW" altLang="en-US" sz="2000" b="1" dirty="0"/>
          </a:p>
        </p:txBody>
      </p:sp>
      <p:sp>
        <p:nvSpPr>
          <p:cNvPr id="5" name="圓角矩形 4"/>
          <p:cNvSpPr/>
          <p:nvPr/>
        </p:nvSpPr>
        <p:spPr>
          <a:xfrm>
            <a:off x="470646" y="1610346"/>
            <a:ext cx="5526741" cy="21279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6454587" y="1579158"/>
            <a:ext cx="5177119" cy="21279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470647" y="4114800"/>
            <a:ext cx="5526740" cy="22456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6454587" y="4114800"/>
            <a:ext cx="5177119" cy="22456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98395" y="1714640"/>
            <a:ext cx="317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技术方向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98395" y="4296494"/>
            <a:ext cx="317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工具应用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647329" y="1714640"/>
            <a:ext cx="317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业务能力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647329" y="4296494"/>
            <a:ext cx="317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团队建设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3_3*l_h_a*1_1_1"/>
  <p:tag name="KSO_WM_TEMPLATE_CATEGORY" val="diagram"/>
  <p:tag name="KSO_WM_TEMPLATE_INDEX" val="20231873"/>
  <p:tag name="KSO_WM_UNIT_LAYERLEVEL" val="1_1_1"/>
  <p:tag name="KSO_WM_TAG_VERSION" val="3.0"/>
  <p:tag name="KSO_WM_UNIT_VALUE" val="25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3_3*l_h_f*1_1_1"/>
  <p:tag name="KSO_WM_TEMPLATE_CATEGORY" val="diagram"/>
  <p:tag name="KSO_WM_TEMPLATE_INDEX" val="20231873"/>
  <p:tag name="KSO_WM_UNIT_LAYERLEVEL" val="1_1_1"/>
  <p:tag name="KSO_WM_TAG_VERSION" val="3.0"/>
  <p:tag name="KSO_WM_UNIT_VALUE" val="11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3_3*l_h_a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27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3_3*l_h_f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68"/>
  <p:tag name="KSO_WM_UNIT_TEXT_TYPE" val="1"/>
  <p:tag name="KSO_WM_UNIT_TEXT_LAYER_COUNT" val="1"/>
  <p:tag name="KSO_WM_UNIT_PRESET_TEXT" val="单击此处输入你的智能图形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873_3*l_h_a*1_3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27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873_3*l_h_f*1_3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68"/>
  <p:tag name="KSO_WM_UNIT_TEXT_TYPE" val="1"/>
  <p:tag name="KSO_WM_UNIT_TEXT_LAYER_COUNT" val="1"/>
  <p:tag name="KSO_WM_UNIT_PRESET_TEXT" val="单击此处输入你的智能图形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873_3*l_h_a*1_4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27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873_3*l_h_f*1_4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68"/>
  <p:tag name="KSO_WM_UNIT_TEXT_TYPE" val="1"/>
  <p:tag name="KSO_WM_UNIT_TEXT_LAYER_COUNT" val="1"/>
  <p:tag name="KSO_WM_UNIT_PRESET_TEXT" val="单击此处输入你的智能图形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9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418.59996673343693,&quot;left&quot;:397.65000610351564,&quot;top&quot;:90.37503937007872,&quot;width&quot;:800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3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0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418.59996673343693,&quot;left&quot;:397.65000610351564,&quot;top&quot;:90.37503937007872,&quot;width&quot;:800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1"/>
  <p:tag name="KSO_WM_UNIT_ID" val="diagram20231873_3*l_h_i*1_2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1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418.59996673343693,&quot;left&quot;:397.65000610351564,&quot;top&quot;:90.37503937007872,&quot;width&quot;:800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3_1"/>
  <p:tag name="KSO_WM_UNIT_ID" val="diagram20231873_3*l_h_i*1_3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2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418.59996673343693,&quot;left&quot;:397.65000610351564,&quot;top&quot;:90.37503937007872,&quot;width&quot;:800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4_1"/>
  <p:tag name="KSO_WM_UNIT_ID" val="diagram20231873_3*l_h_i*1_4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873_3*l_h_i*1_2_2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873_3*l_h_i*1_3_2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873_3*l_h_i*1_4_2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59996673343693,&quot;left&quot;:397.65000610351564,&quot;top&quot;:90.37503937007872,&quot;width&quot;:800.2999877929688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theme_color_indexes&quot;:[5,6,5,6,5,6],&quot;theme_colors&quot;:[&quot;#000000&quot;,&quot;#ffffff&quot;,&quot;#333333&quot;,&quot;#f5f7fa&quot;,&quot;#1a56db&quot;,&quot;#36b37e&quot;,&quot;#ff5630&quot;,&quot;#ffab00&quot;,&quot;#6554c0&quot;,&quot;#00b8d9&quot;,&quot;#2563eb&quot;,&quot;#5d3fd3&quot;]}"/>
</p:tagLst>
</file>

<file path=ppt/tags/tag16.xml><?xml version="1.0" encoding="utf-8"?>
<p:tagLst xmlns:p="http://schemas.openxmlformats.org/presentationml/2006/main">
  <p:tag name="KSO_WM_DIAGRAM_VIRTUALLY_FRAME" val="{&quot;height&quot;:401.15585697670394,&quot;left&quot;:12.5,&quot;top&quot;:80.7,&quot;width&quot;:943.6000061035156}"/>
</p:tagLst>
</file>

<file path=ppt/tags/tag17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NOCLEAR" val="0"/>
  <p:tag name="KSO_WM_UNIT_HIGHLIGHT" val="0"/>
  <p:tag name="KSO_WM_UNIT_DIAGRAM_ISNUMVISUAL" val="0"/>
  <p:tag name="KSO_WM_UNIT_TYPE" val="l_h_i"/>
  <p:tag name="KSO_WM_UNIT_INDEX" val="1_1_1"/>
  <p:tag name="KSO_WM_UNIT_ID" val="diagram20231438_4*l_h_i*1_1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18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NOCLEAR" val="0"/>
  <p:tag name="KSO_WM_UNIT_HIGHLIGHT" val="0"/>
  <p:tag name="KSO_WM_UNIT_DIAGRAM_ISNUMVISUAL" val="0"/>
  <p:tag name="KSO_WM_UNIT_TYPE" val="l_h_i"/>
  <p:tag name="KSO_WM_UNIT_INDEX" val="1_2_1"/>
  <p:tag name="KSO_WM_UNIT_ID" val="diagram20231438_4*l_h_i*1_2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19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NOCLEAR" val="0"/>
  <p:tag name="KSO_WM_UNIT_HIGHLIGHT" val="0"/>
  <p:tag name="KSO_WM_UNIT_DIAGRAM_ISNUMVISUAL" val="0"/>
  <p:tag name="KSO_WM_UNIT_TYPE" val="l_h_i"/>
  <p:tag name="KSO_WM_UNIT_INDEX" val="1_3_1"/>
  <p:tag name="KSO_WM_UNIT_ID" val="diagram20231438_4*l_h_i*1_3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0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1_1"/>
  <p:tag name="KSO_WM_UNIT_ID" val="diagram20231438_4*l_h_f*1_1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输入你的项正文具体内容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1_1"/>
  <p:tag name="KSO_WM_UNIT_ID" val="diagram20231438_4*l_h_a*1_1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438_4*l_h_i*1_1_3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38_4*l_h_i*1_1_2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4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2_1"/>
  <p:tag name="KSO_WM_UNIT_ID" val="diagram20231438_4*l_h_f*1_2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800000011920929,&quot;colorType&quot;:1,&quot;foreColorIndex&quot;:8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8,&quot;transparency&quot;:0.4000000059604645},&quot;type&quot;:1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输入你的项正文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644999980926514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2_1"/>
  <p:tag name="KSO_WM_UNIT_ID" val="diagram20231438_4*l_h_a*1_2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438_4*l_h_i*1_2_3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38_4*l_h_i*1_2_2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8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3_1"/>
  <p:tag name="KSO_WM_UNIT_ID" val="diagram20231438_4*l_h_f*1_3_1"/>
  <p:tag name="KSO_WM_TEMPLATE_CATEGORY" val="diagram"/>
  <p:tag name="KSO_WM_UNIT_LAYERLEVEL" val="1_1_1"/>
  <p:tag name="KSO_WM_DIAGRAM_GROUP_CODE" val="l1-1"/>
  <p:tag name="KSO_WM_DIAGRAM_COLOR_TRICK" val="2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输入你的项正文具体内容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3_1"/>
  <p:tag name="KSO_WM_UNIT_ID" val="diagram20231438_4*l_h_a*1_3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UNIT_TEXT_TYPE" val="1"/>
  <p:tag name="KSO_WM_BEAUTIFY_FLAG" val="#wm#"/>
  <p:tag name="KSO_WM_UNIT_PRESET_TEXT" val="添加标题"/>
  <p:tag name="KSO_WM_UNIT_FILL_TYPE" val="3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438_4*l_h_i*1_3_3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38_4*l_h_i*1_3_2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2.xml><?xml version="1.0" encoding="utf-8"?>
<p:tagLst xmlns:p="http://schemas.openxmlformats.org/presentationml/2006/main">
  <p:tag name="KSO_WM_DIAGRAM_VIRTUALLY_FRAME" val="{&quot;height&quot;:401.15585697670394,&quot;left&quot;:12.5,&quot;top&quot;:80.7,&quot;width&quot;:943.6000061035156}"/>
</p:tagLst>
</file>

<file path=ppt/tags/tag33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NOCLEAR" val="0"/>
  <p:tag name="KSO_WM_UNIT_HIGHLIGHT" val="0"/>
  <p:tag name="KSO_WM_UNIT_DIAGRAM_ISNUMVISUAL" val="0"/>
  <p:tag name="KSO_WM_UNIT_TYPE" val="l_h_i"/>
  <p:tag name="KSO_WM_UNIT_INDEX" val="1_5_1"/>
  <p:tag name="KSO_WM_UNIT_ID" val="diagram20231438_4*l_h_i*1_5_1"/>
  <p:tag name="KSO_WM_TEMPLATE_CATEGORY" val="diagram"/>
  <p:tag name="KSO_WM_UNIT_LAYERLEVEL" val="1_1_1"/>
  <p:tag name="KSO_WM_DIAGRAM_COLOR_TRICK" val="2"/>
  <p:tag name="KSO_WM_DIAGRAM_GROUP_CODE" val="l1-1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4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NOCLEAR" val="0"/>
  <p:tag name="KSO_WM_UNIT_HIGHLIGHT" val="0"/>
  <p:tag name="KSO_WM_UNIT_DIAGRAM_ISNUMVISUAL" val="0"/>
  <p:tag name="KSO_WM_UNIT_TYPE" val="l_h_i"/>
  <p:tag name="KSO_WM_UNIT_INDEX" val="1_4_1"/>
  <p:tag name="KSO_WM_UNIT_ID" val="diagram20231438_4*l_h_i*1_4_1"/>
  <p:tag name="KSO_WM_TEMPLATE_CATEGORY" val="diagram"/>
  <p:tag name="KSO_WM_UNIT_LAYERLEVEL" val="1_1_1"/>
  <p:tag name="KSO_WM_DIAGRAM_COLOR_TRICK" val="2"/>
  <p:tag name="KSO_WM_DIAGRAM_GROUP_CODE" val="l1-1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5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5_1"/>
  <p:tag name="KSO_WM_UNIT_ID" val="diagram20231438_4*l_h_f*1_5_1"/>
  <p:tag name="KSO_WM_TEMPLATE_CATEGORY" val="diagram"/>
  <p:tag name="KSO_WM_UNIT_LAYERLEVEL" val="1_1_1"/>
  <p:tag name="KSO_WM_DIAGRAM_COLOR_TRICK" val="2"/>
  <p:tag name="KSO_WM_DIAGRAM_GROUP_CODE" val="l1-1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输入你的项正文具体内容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5_1"/>
  <p:tag name="KSO_WM_UNIT_ID" val="diagram20231438_4*l_h_a*1_5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1438_4*l_h_i*1_5_3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1438_4*l_h_i*1_5_2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39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VERSION" val="3"/>
  <p:tag name="KSO_WM_DIAGRAM_COLOR_TEXT_CAN_REMOVE" val="n"/>
  <p:tag name="KSO_WM_DIAGRAM_MIN_ITEMCNT" val="2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4_1"/>
  <p:tag name="KSO_WM_UNIT_ID" val="diagram20231438_4*l_h_f*1_4_1"/>
  <p:tag name="KSO_WM_TEMPLATE_CATEGORY" val="diagram"/>
  <p:tag name="KSO_WM_UNIT_LAYERLEVEL" val="1_1_1"/>
  <p:tag name="KSO_WM_DIAGRAM_COLOR_TRICK" val="2"/>
  <p:tag name="KSO_WM_DIAGRAM_GROUP_CODE" val="l1-1"/>
  <p:tag name="KSO_WM_DIAGRAM_MAX_ITEMCNT" val="6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800000011920929,&quot;colorType&quot;:1,&quot;foreColorIndex&quot;:8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8,&quot;transparency&quot;:0.4000000059604645},&quot;type&quot;:1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输入你的项正文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644999980926514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4_1"/>
  <p:tag name="KSO_WM_UNIT_ID" val="diagram20231438_4*l_h_a*1_4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438_4*l_h_i*1_4_3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438_4*l_h_i*1_4_2"/>
  <p:tag name="KSO_WM_TEMPLATE_CATEGORY" val="diagram"/>
  <p:tag name="KSO_WM_TEMPLATE_INDEX" val="2023143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01.15585697670394,&quot;left&quot;:12.5,&quot;top&quot;:93.4,&quot;width&quot;:943.6000061035156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-0.5"/>
  <p:tag name="KSO_WM_DIAGRAM_USE_COLOR_VALUE" val="{&quot;color_scheme&quot;:1,&quot;theme_color_indexes&quot;:[5,6,5,6,5,6],&quot;theme_colors&quot;:[&quot;#000000&quot;,&quot;#ffffff&quot;,&quot;#2d3748&quot;,&quot;#f7fafc&quot;,&quot;#4299e1&quot;,&quot;#38b2ac&quot;,&quot;#805ad5&quot;,&quot;#ed8936&quot;,&quot;#e53e3e&quot;,&quot;#d69e2e&quot;,&quot;#3182ce&quot;,&quot;#553c9a&quot;]}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318_1*m_h_f*1_1_1"/>
  <p:tag name="KSO_WM_TEMPLATE_CATEGORY" val="diagram"/>
  <p:tag name="KSO_WM_TEMPLATE_INDEX" val="20230318"/>
  <p:tag name="KSO_WM_UNIT_LAYERLEVEL" val="1_1_1"/>
  <p:tag name="KSO_WM_TAG_VERSION" val="3.0"/>
  <p:tag name="KSO_WM_DIAGRAM_GROUP_CODE" val="m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81.27500610351564,&quot;left&quot;:0.97496337890625,&quot;top&quot;:23.85,&quot;width&quot;:945.325036621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9f9f9&quot;,&quot;#3a7bd5&quot;,&quot;#5d5d5d&quot;,&quot;#e6f7ff&quot;,&quot;#ffe6e6&quot;,&quot;#e6ffe6&quot;,&quot;#fff7e6&quot;,&quot;#2860c9&quot;,&quot;#6a4c93&quot;]}"/>
</p:tagLst>
</file>

<file path=ppt/tags/tag44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i*1_1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45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i*1_2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8"/>
  <p:tag name="KSO_WM_DIAGRAM_MIN_ITEMCNT" val="4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46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47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48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49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0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1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2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3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4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5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6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5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7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5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8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59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0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1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2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3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4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5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6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7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6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8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6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69.xml><?xml version="1.0" encoding="utf-8"?>
<p:tagLst xmlns:p="http://schemas.openxmlformats.org/presentationml/2006/main">
  <p:tag name="KSO_WM_DIAGRAM_VIRTUALLY_FRAME" val="{&quot;height&quot;:347.38472728819363,&quot;left&quot;:-147.5884251968504,&quot;top&quot;:186.80811023622047,&quot;width&quot;:1127.0518590347415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theme_color_indexes&quot;:[5,6,5,6,5,6],&quot;theme_colors&quot;:[&quot;#000000&quot;,&quot;#ffffff&quot;,&quot;#2d3748&quot;,&quot;#f8fafc&quot;,&quot;#3182ce&quot;,&quot;#48bb78&quot;,&quot;#ed8936&quot;,&quot;#e53e3e&quot;,&quot;#805ad5&quot;,&quot;#38b2ac&quot;,&quot;#2b6cb0&quot;,&quot;#553c9a&quot;]}"/>
</p:tagLst>
</file>

<file path=ppt/tags/tag70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1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2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418.34998779296876,&quot;left&quot;:24.975006103515625,&quot;top&quot;:57.625006103515624,&quot;width&quot;:906.2055207068449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4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418.34998779296876,&quot;left&quot;:24.975006103515625,&quot;top&quot;:57.625006103515624,&quot;width&quot;:906.2055207068449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6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7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3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2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418.34998779296876,&quot;left&quot;:24.975006103515625,&quot;top&quot;:57.625006103515624,&quot;width&quot;:906.2055207068449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79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0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1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2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3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4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5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6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7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8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89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90.xml><?xml version="1.0" encoding="utf-8"?>
<p:tagLst xmlns:p="http://schemas.openxmlformats.org/presentationml/2006/main">
  <p:tag name="KSO_WM_DIAGRAM_VIRTUALLY_FRAME" val="{&quot;height&quot;:418.34998779296876,&quot;left&quot;:24.975006103515625,&quot;top&quot;:57.625006103515624,&quot;width&quot;:906.2055207068449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3_1"/>
  <p:tag name="KSO_WM_TEMPLATE_CATEGORY" val="diagram"/>
  <p:tag name="KSO_WM_TEMPLATE_INDEX" val="20233205"/>
  <p:tag name="KSO_WM_UNIT_LAYERLEVEL" val="1_1_1"/>
  <p:tag name="KSO_WM_TAG_VERSION" val="3.0"/>
  <p:tag name="KSO_WM_UNIT_VALUE" val="22*22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8f9fa&quot;,&quot;#0066cc&quot;,&quot;#009966&quot;,&quot;#ff6600&quot;,&quot;#cc3366&quot;,&quot;#666699&quot;,&quot;#ffcc00&quot;,&quot;#0066cc&quot;,&quot;#663399&quot;]}"/>
</p:tagLst>
</file>

<file path=ppt/tags/tag91.xml><?xml version="1.0" encoding="utf-8"?>
<p:tagLst xmlns:p="http://schemas.openxmlformats.org/presentationml/2006/main">
  <p:tag name="KSO_WM_DIAGRAM_VIRTUALLY_FRAME" val="{&quot;height&quot;:450.45,&quot;left&quot;:28,&quot;top&quot;:60.7,&quot;width&quot;:901.2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1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1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6_1*l_h_a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6_1*l_h_f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为了最终演示发布的良好效果。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1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1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98.xml><?xml version="1.0" encoding="utf-8"?>
<p:tagLst xmlns:p="http://schemas.openxmlformats.org/presentationml/2006/main">
  <p:tag name="KSO_WM_DIAGRAM_VIRTUALLY_FRAME" val="{&quot;height&quot;:450.45,&quot;left&quot;:28,&quot;top&quot;:60.7,&quot;width&quot;:901.2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2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2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6_1*l_h_a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6_1*l_h_f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请单击此处输入你的正文内容，文字是您思想的提炼，为了最终演示发布的良好效果。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2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2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5.xml><?xml version="1.0" encoding="utf-8"?>
<p:tagLst xmlns:p="http://schemas.openxmlformats.org/presentationml/2006/main">
  <p:tag name="KSO_WM_DIAGRAM_VIRTUALLY_FRAME" val="{&quot;height&quot;:450.45,&quot;left&quot;:28,&quot;top&quot;:60.7,&quot;width&quot;:901.2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3_3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3_4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6_1*l_h_a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6_1*l_h_f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为了最终演示发布的良好效果。"/>
  <p:tag name="KSO_WM_UNIT_TEXT_FILL_FORE_SCHEMECOLOR_INDEX" val="1"/>
  <p:tag name="KSO_WM_UNIT_TEXT_FILL_TYPE" val="1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3_2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3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1*l_h_i*1_3_1"/>
  <p:tag name="KSO_WM_TEMPLATE_CATEGORY" val="diagram"/>
  <p:tag name="KSO_WM_TEMPLATE_INDEX" val="20231976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MAX_ITEMCNT" val="6"/>
  <p:tag name="KSO_WM_DIAGRAM_MIN_ITEMCNT" val="3"/>
  <p:tag name="KSO_WM_DIAGRAM_VIRTUALLY_FRAME" val="{&quot;height&quot;:450.45,&quot;left&quot;:28,&quot;top&quot;:60.7,&quot;width&quot;:901.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BEAUTIFY_FLAG" val="#wm#"/>
  <p:tag name="KSO_WM_DIAGRAM_USE_COLOR_VALUE" val="{&quot;color_scheme&quot;:1,&quot;theme_color_indexes&quot;:[5,6,5,6,5,6],&quot;theme_colors&quot;:[&quot;#000000&quot;,&quot;#ffffff&quot;,&quot;#333333&quot;,&quot;#f9fafb&quot;,&quot;#4a90e2&quot;,&quot;#58b957&quot;,&quot;#e55934&quot;,&quot;#9013fe&quot;,&quot;#f5a623&quot;,&quot;#d0021b&quot;,&quot;#2b6cb0&quot;,&quot;#6b46c1&quot;]}"/>
</p:tagLst>
</file>

<file path=ppt/tags/tag1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i*1_1"/>
  <p:tag name="KSO_WM_TEMPLATE_CATEGORY" val="diagram"/>
  <p:tag name="KSO_WM_TEMPLATE_INDEX" val="20231071"/>
  <p:tag name="KSO_WM_UNIT_LAYERLEVEL" val="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i"/>
  <p:tag name="KSO_WM_UNIT_INDEX" val="1_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0.3499999940395355,&quot;colorType&quot;:1,&quot;foreColorIndex&quot;:13,&quot;transparency&quot;:0.94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6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1_2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1_2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,&quot;colorType&quot;:1,&quot;foreColorIndex&quot;:5,&quot;pos&quot;:0.8100000023841858,&quot;transparency&quot;:1},{&quot;brightness&quot;:0,&quot;colorType&quot;:1,&quot;foreColorIndex&quot;:5,&quot;pos&quot;:1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2_2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2_2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,&quot;colorType&quot;:1,&quot;foreColorIndex&quot;:6,&quot;pos&quot;:0.8100000023841858,&quot;transparency&quot;:1},{&quot;brightness&quot;:0,&quot;colorType&quot;:1,&quot;foreColorIndex&quot;:6,&quot;pos&quot;:1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3_2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3_2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,&quot;colorType&quot;:1,&quot;foreColorIndex&quot;:7,&quot;pos&quot;:0.8100000023841858,&quot;transparency&quot;:1},{&quot;brightness&quot;:0,&quot;colorType&quot;:1,&quot;foreColorIndex&quot;:7,&quot;pos&quot;:1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4_2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4_2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,&quot;colorType&quot;:1,&quot;foreColorIndex&quot;:8,&quot;pos&quot;:0.8100000023841858,&quot;transparency&quot;:1},{&quot;brightness&quot;:0,&quot;colorType&quot;:1,&quot;foreColorIndex&quot;:8,&quot;pos&quot;:1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1_3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1_3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gradient&quot;:[{&quot;brightness&quot;:0,&quot;colorType&quot;:2,&quot;pos&quot;:0.25,&quot;rgb&quot;:&quot;#376fff&quot;,&quot;transparency&quot;:1},{&quot;brightness&quot;:0,&quot;colorType&quot;:1,&quot;foreColorIndex&quot;:5,&quot;pos&quot;:0.6000000238418579,&quot;transparency&quot;:0.20000000298023224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2_3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2_3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.25,&quot;transparency&quot;:1},{&quot;brightness&quot;:0,&quot;colorType&quot;:1,&quot;foreColorIndex&quot;:6,&quot;pos&quot;:0.6000000238418579,&quot;transparency&quot;:0.20000000298023224}],&quot;type&quot;:2},&quot;shadow&quot;:{&quot;brightness&quot;:-0.2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4_3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4_3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.25,&quot;transparency&quot;:1},{&quot;brightness&quot;:0,&quot;colorType&quot;:1,&quot;foreColorIndex&quot;:8,&quot;pos&quot;:0.6000000238418579,&quot;transparency&quot;:0.20000000298023224}],&quot;type&quot;:2},&quot;shadow&quot;:{&quot;brightness&quot;:-0.25,&quot;colorType&quot;:1,&quot;foreColorIndex&quot;:8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3_3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h_i"/>
  <p:tag name="KSO_WM_UNIT_INDEX" val="1_3_3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.25,&quot;transparency&quot;:1},{&quot;brightness&quot;:0,&quot;colorType&quot;:1,&quot;foreColorIndex&quot;:7,&quot;pos&quot;:0.6000000238418579,&quot;transparency&quot;:0.20000000298023224}],&quot;type&quot;:2},&quot;shadow&quot;:{&quot;brightness&quot;:-0.2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1071_2*q_h_f*1_2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,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UNIT_ID" val="diagram20231071_2*q_h_a*1_2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1071_2*q_h_f*1_3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,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UNIT_ID" val="diagram20231071_2*q_h_a*1_3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1071_2*q_h_f*1_1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,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1_1"/>
  <p:tag name="KSO_WM_UNIT_ID" val="diagram20231071_2*q_h_a*1_1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UNIT_ID" val="diagram20231071_2*q_h_f*1_4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,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4_1"/>
  <p:tag name="KSO_WM_UNIT_ID" val="diagram20231071_2*q_h_a*1_4_1"/>
  <p:tag name="KSO_WM_TEMPLATE_CATEGORY" val="diagram"/>
  <p:tag name="KSO_WM_TEMPLATE_INDEX" val="20231071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q1-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1_1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SUBTYPE" val="d"/>
  <p:tag name="KSO_WM_UNIT_TYPE" val="q_h_i"/>
  <p:tag name="KSO_WM_UNIT_INDEX" val="1_1_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2_1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SUBTYPE" val="d"/>
  <p:tag name="KSO_WM_UNIT_TYPE" val="q_h_i"/>
  <p:tag name="KSO_WM_UNIT_INDEX" val="1_2_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3_1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SUBTYPE" val="d"/>
  <p:tag name="KSO_WM_UNIT_TYPE" val="q_h_i"/>
  <p:tag name="KSO_WM_UNIT_INDEX" val="1_3_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h_i*1_4_1"/>
  <p:tag name="KSO_WM_TEMPLATE_CATEGORY" val="diagram"/>
  <p:tag name="KSO_WM_TEMPLATE_INDEX" val="20231071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SUBTYPE" val="d"/>
  <p:tag name="KSO_WM_UNIT_TYPE" val="q_h_i"/>
  <p:tag name="KSO_WM_UNIT_INDEX" val="1_4_1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71_2*q_i*1_2"/>
  <p:tag name="KSO_WM_TEMPLATE_CATEGORY" val="diagram"/>
  <p:tag name="KSO_WM_TEMPLATE_INDEX" val="20231071"/>
  <p:tag name="KSO_WM_UNIT_LAYERLEVEL" val="1_1"/>
  <p:tag name="KSO_WM_TAG_VERSION" val="3.0"/>
  <p:tag name="KSO_WM_DIAGRAM_VERSION" val="3"/>
  <p:tag name="KSO_WM_DIAGRAM_COLOR_TRICK" val="4"/>
  <p:tag name="KSO_WM_DIAGRAM_COLOR_TEXT_CAN_REMOVE" val="n"/>
  <p:tag name="KSO_WM_DIAGRAM_GROUP_CODE" val="q1-1"/>
  <p:tag name="KSO_WM_UNIT_TYPE" val="q_i"/>
  <p:tag name="KSO_WM_UNIT_INDEX" val="1_2"/>
  <p:tag name="KSO_WM_DIAGRAM_MAX_ITEMCNT" val="6"/>
  <p:tag name="KSO_WM_DIAGRAM_MIN_ITEMCNT" val="3"/>
  <p:tag name="KSO_WM_DIAGRAM_VIRTUALLY_FRAME" val="{&quot;height&quot;:467.25,&quot;left&quot;:20.91778872021996,&quot;top&quot;:40,&quot;width&quot;:914.371035268612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USE_COLOR_VALUE" val="{&quot;color_scheme&quot;:1,&quot;theme_color_indexes&quot;:[5,6,5,6,5,6],&quot;theme_colors&quot;:[&quot;#000000&quot;,&quot;#ffffff&quot;,&quot;#333333&quot;,&quot;#f5f7fa&quot;,&quot;#1a73e8&quot;,&quot;#34a853&quot;,&quot;#fbbc05&quot;,&quot;#ea4335&quot;,&quot;#9c27b0&quot;,&quot;#00acc1&quot;,&quot;#1967d2&quot;,&quot;#6200ea&quot;]}"/>
</p:tagLst>
</file>

<file path=ppt/tags/tag134.xml><?xml version="1.0" encoding="utf-8"?>
<p:tagLst xmlns:p="http://schemas.openxmlformats.org/presentationml/2006/main">
  <p:tag name="resource_record_key" val="{&quot;70&quot;:[3318301,3312127,3322235,3327936,3322543,3321502,3314199,332208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1535</Words>
  <Application>WPS 演示</Application>
  <PresentationFormat>寬螢幕</PresentationFormat>
  <Paragraphs>257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等线</vt:lpstr>
      <vt:lpstr>Calibri</vt:lpstr>
      <vt:lpstr>PMingLiU</vt:lpstr>
      <vt:lpstr>Segoe Print</vt:lpstr>
      <vt:lpstr>PMingLiU</vt:lpstr>
      <vt:lpstr>Arial</vt:lpstr>
      <vt:lpstr>Wingdings</vt:lpstr>
      <vt:lpstr>HarmonyOS Sans SC</vt:lpstr>
      <vt:lpstr>思源黑体 CN Regular</vt:lpstr>
      <vt:lpstr>+中文正文</vt:lpstr>
      <vt:lpstr>MiSans Normal</vt:lpstr>
      <vt:lpstr>Noto Sans SC</vt:lpstr>
      <vt:lpstr>方正公文小标宋</vt:lpstr>
      <vt:lpstr>Calibri Light</vt:lpstr>
      <vt:lpstr>Office 主题​​</vt:lpstr>
      <vt:lpstr>1_自訂設計</vt:lpstr>
      <vt:lpstr>自訂設計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浪客心</cp:lastModifiedBy>
  <cp:revision>206</cp:revision>
  <dcterms:created xsi:type="dcterms:W3CDTF">2024-02-15T09:33:00Z</dcterms:created>
  <dcterms:modified xsi:type="dcterms:W3CDTF">2026-04-15T06:13:49Z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45BD61A00C6D4E26B7C13DC0F05E8A6E_13</vt:lpwstr>
  </property>
</Properties>
</file>