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65100"/>
            <a:ext cx="7302500" cy="3302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ctr"/>
            <a:r>
              <a:rPr sz="2100" b="1">
                <a:solidFill>
                  <a:srgbClr val="E9B44C"/>
                </a:solidFill>
                <a:latin typeface="PingFang SC"/>
                <a:ea typeface="PingFang SC"/>
              </a:rPr>
              <a:t>传统开发</a:t>
            </a:r>
            <a:r>
              <a:rPr sz="1250" b="0">
                <a:solidFill>
                  <a:srgbClr val="788AA6"/>
                </a:solidFill>
                <a:latin typeface="PingFang SC"/>
                <a:ea typeface="PingFang SC"/>
              </a:rPr>
              <a:t>  vs  </a:t>
            </a:r>
            <a:r>
              <a:rPr sz="2100" b="1">
                <a:solidFill>
                  <a:srgbClr val="4FC3F7"/>
                </a:solidFill>
                <a:latin typeface="PingFang SC"/>
                <a:ea typeface="PingFang SC"/>
              </a:rPr>
              <a:t>AI 辅助开发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71500"/>
            <a:ext cx="9652000" cy="1524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900" b="0">
                <a:solidFill>
                  <a:srgbClr val="A2AEC2"/>
                </a:solidFill>
                <a:latin typeface="PingFang SC"/>
                <a:ea typeface="PingFang SC"/>
              </a:rPr>
              <a:t>以 lt-ctb 项目开发为例 · 六大模块 · 50+ 功能点设计文档 —— 传统路径与 AI 辅助路径的交付对比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914400"/>
            <a:ext cx="11480800" cy="12700"/>
          </a:xfrm>
          <a:prstGeom prst="rect">
            <a:avLst/>
          </a:prstGeom>
          <a:solidFill>
            <a:srgbClr val="274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83900" y="349250"/>
            <a:ext cx="215900" cy="12065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650" b="1">
                <a:solidFill>
                  <a:srgbClr val="06213F"/>
                </a:solidFill>
                <a:latin typeface="PingFang SC"/>
                <a:ea typeface="PingFang SC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0600" y="342900"/>
            <a:ext cx="711200" cy="1397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700" b="0">
                <a:solidFill>
                  <a:srgbClr val="919FB7"/>
                </a:solidFill>
                <a:latin typeface="PingFang SC"/>
                <a:ea typeface="PingFang SC"/>
              </a:rPr>
              <a:t>AI 工具参与环节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0" y="565150"/>
            <a:ext cx="152400" cy="88900"/>
          </a:xfrm>
          <a:prstGeom prst="rect">
            <a:avLst/>
          </a:prstGeom>
          <a:noFill/>
          <a:ln w="12700">
            <a:solidFill>
              <a:srgbClr val="907D5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80700" y="552450"/>
            <a:ext cx="1181100" cy="1397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700" b="0">
                <a:solidFill>
                  <a:srgbClr val="919FB7"/>
                </a:solidFill>
                <a:latin typeface="PingFang SC"/>
                <a:ea typeface="PingFang SC"/>
              </a:rPr>
              <a:t>传统模式同期仍在推进的阶段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00" y="1117600"/>
            <a:ext cx="82550" cy="8255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BC9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700" y="1060450"/>
            <a:ext cx="1016000" cy="1905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PingFang SC"/>
                <a:ea typeface="PingFang SC"/>
              </a:rPr>
              <a:t>传统开发模式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5600" y="1079500"/>
            <a:ext cx="115570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A6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C89F4F"/>
                </a:solidFill>
                <a:latin typeface="PingFang SC"/>
                <a:ea typeface="PingFang SC"/>
              </a:rPr>
              <a:t>串行瀑布 · 逐阶段推进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0" y="1092200"/>
            <a:ext cx="6375400" cy="1397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r"/>
            <a:r>
              <a:rPr sz="700" b="0">
                <a:solidFill>
                  <a:srgbClr val="919FB7"/>
                </a:solidFill>
                <a:latin typeface="PingFang SC"/>
                <a:ea typeface="PingFang SC"/>
              </a:rPr>
              <a:t>需求 1 + 设计 2 + 开发 13 + 测试 4 周 ≈ 20 周至交付 · 开发 / 测试投入 4-6 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600" y="1346200"/>
            <a:ext cx="1143000" cy="1206500"/>
          </a:xfrm>
          <a:prstGeom prst="roundRect">
            <a:avLst>
              <a:gd name="adj" fmla="val 8000"/>
            </a:avLst>
          </a:prstGeom>
          <a:solidFill>
            <a:srgbClr val="153465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E2E5EC"/>
                </a:solidFill>
                <a:latin typeface="PingFang SC"/>
                <a:ea typeface="PingFang SC"/>
              </a:rPr>
              <a:t>需求</a:t>
            </a:r>
          </a:p>
          <a:p>
            <a:pPr algn="ctr"/>
            <a:r>
              <a:rPr sz="700" b="0">
                <a:solidFill>
                  <a:srgbClr val="E9B44C"/>
                </a:solidFill>
                <a:latin typeface="PingFang SC"/>
                <a:ea typeface="PingFang SC"/>
              </a:rPr>
              <a:t>约 1 周</a:t>
            </a:r>
          </a:p>
          <a:p>
            <a:pPr algn="ctr"/>
            <a:r>
              <a:rPr sz="700" b="0">
                <a:solidFill>
                  <a:srgbClr val="A9B4C7"/>
                </a:solidFill>
                <a:latin typeface="PingFang SC"/>
                <a:ea typeface="PingFang SC"/>
              </a:rPr>
              <a:t>收集整理 · 输出 SRS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2-3 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14500" y="1346200"/>
            <a:ext cx="1524000" cy="1206500"/>
          </a:xfrm>
          <a:prstGeom prst="roundRect">
            <a:avLst>
              <a:gd name="adj" fmla="val 8000"/>
            </a:avLst>
          </a:prstGeom>
          <a:solidFill>
            <a:srgbClr val="153465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E2E5EC"/>
                </a:solidFill>
                <a:latin typeface="PingFang SC"/>
                <a:ea typeface="PingFang SC"/>
              </a:rPr>
              <a:t>设计</a:t>
            </a:r>
          </a:p>
          <a:p>
            <a:pPr algn="ctr"/>
            <a:r>
              <a:rPr sz="700" b="0">
                <a:solidFill>
                  <a:srgbClr val="E9B44C"/>
                </a:solidFill>
                <a:latin typeface="PingFang SC"/>
                <a:ea typeface="PingFang SC"/>
              </a:rPr>
              <a:t>约 2 周</a:t>
            </a:r>
          </a:p>
          <a:p>
            <a:pPr algn="ctr"/>
            <a:r>
              <a:rPr sz="700" b="0">
                <a:solidFill>
                  <a:srgbClr val="A9B4C7"/>
                </a:solidFill>
                <a:latin typeface="PingFang SC"/>
                <a:ea typeface="PingFang SC"/>
              </a:rPr>
              <a:t>架构 · 原型 · 评审定稿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2-3 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4400" y="1346200"/>
            <a:ext cx="5535706" cy="1206500"/>
          </a:xfrm>
          <a:prstGeom prst="roundRect">
            <a:avLst>
              <a:gd name="adj" fmla="val 8000"/>
            </a:avLst>
          </a:prstGeom>
          <a:solidFill>
            <a:srgbClr val="153465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E2E5EC"/>
                </a:solidFill>
                <a:latin typeface="PingFang SC"/>
                <a:ea typeface="PingFang SC"/>
              </a:rPr>
              <a:t>开发</a:t>
            </a:r>
          </a:p>
          <a:p>
            <a:pPr algn="ctr"/>
            <a:r>
              <a:rPr sz="700" b="0">
                <a:solidFill>
                  <a:srgbClr val="E9B44C"/>
                </a:solidFill>
                <a:latin typeface="PingFang SC"/>
                <a:ea typeface="PingFang SC"/>
              </a:rPr>
              <a:t>约 13 周（3 个月）</a:t>
            </a:r>
          </a:p>
          <a:p>
            <a:pPr algn="ctr"/>
            <a:r>
              <a:rPr sz="700" b="0">
                <a:solidFill>
                  <a:srgbClr val="A9B4C7"/>
                </a:solidFill>
                <a:latin typeface="PingFang SC"/>
                <a:ea typeface="PingFang SC"/>
              </a:rPr>
              <a:t>任务拆解 · 分工开发 · 周会同步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3-4 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06006" y="1346200"/>
            <a:ext cx="1703294" cy="1206500"/>
          </a:xfrm>
          <a:prstGeom prst="roundRect">
            <a:avLst>
              <a:gd name="adj" fmla="val 8000"/>
            </a:avLst>
          </a:prstGeom>
          <a:solidFill>
            <a:srgbClr val="153465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E2E5EC"/>
                </a:solidFill>
                <a:latin typeface="PingFang SC"/>
                <a:ea typeface="PingFang SC"/>
              </a:rPr>
              <a:t>测试</a:t>
            </a:r>
          </a:p>
          <a:p>
            <a:pPr algn="ctr"/>
            <a:r>
              <a:rPr sz="700" b="0">
                <a:solidFill>
                  <a:srgbClr val="E9B44C"/>
                </a:solidFill>
                <a:latin typeface="PingFang SC"/>
                <a:ea typeface="PingFang SC"/>
              </a:rPr>
              <a:t>约 4 周（1 个月）</a:t>
            </a:r>
          </a:p>
          <a:p>
            <a:pPr algn="ctr"/>
            <a:r>
              <a:rPr sz="700" b="0">
                <a:solidFill>
                  <a:srgbClr val="A9B4C7"/>
                </a:solidFill>
                <a:latin typeface="PingFang SC"/>
                <a:ea typeface="PingFang SC"/>
              </a:rPr>
              <a:t>测试用例 · 缺陷修复 · 验收报告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4-6 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25200" y="1346200"/>
            <a:ext cx="711200" cy="1206500"/>
          </a:xfrm>
          <a:prstGeom prst="roundRect">
            <a:avLst>
              <a:gd name="adj" fmla="val 8000"/>
            </a:avLst>
          </a:prstGeom>
          <a:solidFill>
            <a:srgbClr val="153465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E2E5EC"/>
                </a:solidFill>
                <a:latin typeface="PingFang SC"/>
                <a:ea typeface="PingFang SC"/>
              </a:rPr>
              <a:t>交付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EPM 验收</a:t>
            </a:r>
          </a:p>
        </p:txBody>
      </p:sp>
      <p:sp>
        <p:nvSpPr>
          <p:cNvPr id="18" name="Chevron 17"/>
          <p:cNvSpPr/>
          <p:nvPr/>
        </p:nvSpPr>
        <p:spPr>
          <a:xfrm>
            <a:off x="1543050" y="1866900"/>
            <a:ext cx="127000" cy="165100"/>
          </a:xfrm>
          <a:prstGeom prst="chevron">
            <a:avLst/>
          </a:prstGeom>
          <a:solidFill>
            <a:srgbClr val="90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3282950" y="1866900"/>
            <a:ext cx="127000" cy="165100"/>
          </a:xfrm>
          <a:prstGeom prst="chevron">
            <a:avLst/>
          </a:prstGeom>
          <a:solidFill>
            <a:srgbClr val="90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9034556" y="1866900"/>
            <a:ext cx="127000" cy="165100"/>
          </a:xfrm>
          <a:prstGeom prst="chevron">
            <a:avLst/>
          </a:prstGeom>
          <a:solidFill>
            <a:srgbClr val="90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10953750" y="1866900"/>
            <a:ext cx="127000" cy="165100"/>
          </a:xfrm>
          <a:prstGeom prst="chevron">
            <a:avLst/>
          </a:prstGeom>
          <a:solidFill>
            <a:srgbClr val="90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600" y="2660650"/>
            <a:ext cx="254000" cy="1397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700" b="0">
                <a:solidFill>
                  <a:srgbClr val="788AA6"/>
                </a:solidFill>
                <a:latin typeface="PingFang SC"/>
                <a:ea typeface="PingFang SC"/>
              </a:rPr>
              <a:t>痛点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000" y="2622550"/>
            <a:ext cx="120650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A6F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D3A64E"/>
                </a:solidFill>
                <a:latin typeface="PingFang SC"/>
                <a:ea typeface="PingFang SC"/>
              </a:rPr>
              <a:t>阶段串行 · 周期逐段叠加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5000" y="2622550"/>
            <a:ext cx="146050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A6F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D3A64E"/>
                </a:solidFill>
                <a:latin typeface="PingFang SC"/>
                <a:ea typeface="PingFang SC"/>
              </a:rPr>
              <a:t>测试独立后置 · 交付前最后一环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2622550"/>
            <a:ext cx="123825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A6F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D3A64E"/>
                </a:solidFill>
                <a:latin typeface="PingFang SC"/>
                <a:ea typeface="PingFang SC"/>
              </a:rPr>
              <a:t>需求大变更 ≈ 排期重来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2908300"/>
            <a:ext cx="698500" cy="2794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r"/>
            <a:r>
              <a:rPr sz="700" b="0">
                <a:solidFill>
                  <a:srgbClr val="9DAABF"/>
                </a:solidFill>
                <a:latin typeface="PingFang SC"/>
                <a:ea typeface="PingFang SC"/>
              </a:rPr>
              <a:t>至交付</a:t>
            </a:r>
          </a:p>
          <a:p>
            <a:pPr algn="r"/>
            <a:r>
              <a:rPr sz="700" b="0">
                <a:solidFill>
                  <a:srgbClr val="9DAABF"/>
                </a:solidFill>
                <a:latin typeface="PingFang SC"/>
                <a:ea typeface="PingFang SC"/>
              </a:rPr>
              <a:t>周期对比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12000" y="2946400"/>
            <a:ext cx="1905000" cy="8255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3200" y="2921000"/>
            <a:ext cx="825500" cy="1270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传统 约 20 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2000" y="3111500"/>
            <a:ext cx="1333500" cy="8255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1700" y="3086100"/>
            <a:ext cx="825500" cy="1270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AI 14 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0" y="2882900"/>
            <a:ext cx="1549400" cy="3048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r"/>
            <a:r>
              <a:rPr sz="750" b="0">
                <a:solidFill>
                  <a:srgbClr val="DADFE7"/>
                </a:solidFill>
                <a:latin typeface="PingFang SC"/>
                <a:ea typeface="PingFang SC"/>
              </a:rPr>
              <a:t>提速约 </a:t>
            </a:r>
            <a:r>
              <a:rPr sz="1500" b="1">
                <a:solidFill>
                  <a:srgbClr val="4FC3F7"/>
                </a:solidFill>
                <a:latin typeface="PingFang SC"/>
                <a:ea typeface="PingFang SC"/>
              </a:rPr>
              <a:t>30%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5600" y="3352800"/>
            <a:ext cx="82550" cy="82550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700" y="3295650"/>
            <a:ext cx="1460500" cy="1905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PingFang SC"/>
                <a:ea typeface="PingFang SC"/>
              </a:rPr>
              <a:t>AI 辅助开发模式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70100" y="3314700"/>
            <a:ext cx="138430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7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48B4E8"/>
                </a:solidFill>
                <a:latin typeface="PingFang SC"/>
                <a:ea typeface="PingFang SC"/>
              </a:rPr>
              <a:t>AI 全程参与 · 三轮迭代交付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1000" y="3327400"/>
            <a:ext cx="6375400" cy="1397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r"/>
            <a:r>
              <a:rPr sz="700" b="0">
                <a:solidFill>
                  <a:srgbClr val="919FB7"/>
                </a:solidFill>
                <a:latin typeface="PingFang SC"/>
                <a:ea typeface="PingFang SC"/>
              </a:rPr>
              <a:t>需求 1 + 设计 1 + 开发 / 测试 12 周 ≈ 14 周至交付 · 投入 4 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5600" y="3581400"/>
            <a:ext cx="1143000" cy="1206500"/>
          </a:xfrm>
          <a:prstGeom prst="roundRect">
            <a:avLst>
              <a:gd name="adj" fmla="val 8000"/>
            </a:avLst>
          </a:prstGeom>
          <a:solidFill>
            <a:srgbClr val="10366A"/>
          </a:solidFill>
          <a:ln w="12700">
            <a:solidFill>
              <a:srgbClr val="41A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需求</a:t>
            </a:r>
          </a:p>
          <a:p>
            <a:pPr algn="ctr"/>
            <a:r>
              <a:rPr sz="700" b="0">
                <a:solidFill>
                  <a:srgbClr val="7FDBF9"/>
                </a:solidFill>
                <a:latin typeface="PingFang SC"/>
                <a:ea typeface="PingFang SC"/>
              </a:rPr>
              <a:t>约 1 周</a:t>
            </a:r>
          </a:p>
          <a:p>
            <a:pPr algn="ctr"/>
            <a:r>
              <a:rPr sz="700" b="0">
                <a:solidFill>
                  <a:srgbClr val="A9B4C7"/>
                </a:solidFill>
                <a:latin typeface="PingFang SC"/>
                <a:ea typeface="PingFang SC"/>
              </a:rPr>
              <a:t>AI 整理部分 SRS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2-3 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14500" y="3581400"/>
            <a:ext cx="1524000" cy="1206500"/>
          </a:xfrm>
          <a:prstGeom prst="roundRect">
            <a:avLst>
              <a:gd name="adj" fmla="val 8000"/>
            </a:avLst>
          </a:prstGeom>
          <a:solidFill>
            <a:srgbClr val="10366A"/>
          </a:solidFill>
          <a:ln w="12700">
            <a:solidFill>
              <a:srgbClr val="41A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设计</a:t>
            </a:r>
          </a:p>
          <a:p>
            <a:pPr algn="ctr"/>
            <a:r>
              <a:rPr sz="700" b="0">
                <a:solidFill>
                  <a:srgbClr val="7FDBF9"/>
                </a:solidFill>
                <a:latin typeface="PingFang SC"/>
                <a:ea typeface="PingFang SC"/>
              </a:rPr>
              <a:t>约 1 周</a:t>
            </a:r>
          </a:p>
          <a:p>
            <a:pPr algn="ctr"/>
            <a:r>
              <a:rPr sz="700" b="0">
                <a:solidFill>
                  <a:srgbClr val="A9B4C7"/>
                </a:solidFill>
                <a:latin typeface="PingFang SC"/>
                <a:ea typeface="PingFang SC"/>
              </a:rPr>
              <a:t>直出 PRD + 原型图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3 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54400" y="3581400"/>
            <a:ext cx="5208494" cy="1206500"/>
          </a:xfrm>
          <a:prstGeom prst="roundRect">
            <a:avLst>
              <a:gd name="adj" fmla="val 8000"/>
            </a:avLst>
          </a:prstGeom>
          <a:solidFill>
            <a:srgbClr val="10366A"/>
          </a:solidFill>
          <a:ln w="12700">
            <a:solidFill>
              <a:srgbClr val="41A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17900" y="3632200"/>
            <a:ext cx="5081494" cy="1524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开发 / 测试一体化</a:t>
            </a:r>
            <a:r>
              <a:rPr sz="700" b="0">
                <a:solidFill>
                  <a:srgbClr val="7FDBF9"/>
                </a:solidFill>
                <a:latin typeface="PingFang SC"/>
                <a:ea typeface="PingFang SC"/>
              </a:rPr>
              <a:t>　三轮迭代 · 12 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7900" y="3797300"/>
            <a:ext cx="5081494" cy="1143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ctr"/>
            <a:r>
              <a:rPr sz="700" b="1">
                <a:solidFill>
                  <a:srgbClr val="7FDBF9"/>
                </a:solidFill>
                <a:latin typeface="PingFang SC"/>
                <a:ea typeface="PingFang SC"/>
              </a:rPr>
              <a:t>AI </a:t>
            </a:r>
            <a:r>
              <a:rPr sz="700" b="0">
                <a:solidFill>
                  <a:srgbClr val="B6BFCF"/>
                </a:solidFill>
                <a:latin typeface="PingFang SC"/>
                <a:ea typeface="PingFang SC"/>
              </a:rPr>
              <a:t>开发 · 生成测试用例 · 文档同步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30600" y="3949700"/>
            <a:ext cx="2053789" cy="698500"/>
          </a:xfrm>
          <a:prstGeom prst="roundRect">
            <a:avLst>
              <a:gd name="adj" fmla="val 10000"/>
            </a:avLst>
          </a:prstGeom>
          <a:solidFill>
            <a:srgbClr val="0E3367"/>
          </a:solidFill>
          <a:ln w="9525">
            <a:solidFill>
              <a:srgbClr val="296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/>
                <a:ea typeface="PingFang SC"/>
              </a:rPr>
              <a:t>R1 · 5 周</a:t>
            </a:r>
          </a:p>
          <a:p>
            <a:pPr algn="ctr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完成全模块开发 / 测试</a:t>
            </a:r>
          </a:p>
          <a:p>
            <a:pPr algn="ctr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交付 EPM · try run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24089" y="3949700"/>
            <a:ext cx="2053789" cy="698500"/>
          </a:xfrm>
          <a:prstGeom prst="roundRect">
            <a:avLst>
              <a:gd name="adj" fmla="val 10000"/>
            </a:avLst>
          </a:prstGeom>
          <a:solidFill>
            <a:srgbClr val="143F73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74734" y="3975100"/>
            <a:ext cx="952500" cy="127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800" b="1">
                <a:solidFill>
                  <a:srgbClr val="0A2A5E"/>
                </a:solidFill>
                <a:latin typeface="PingFang SC"/>
                <a:ea typeface="PingFang SC"/>
              </a:rPr>
              <a:t>吸收需求大变更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4889" y="4127500"/>
            <a:ext cx="1952189" cy="4953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/>
                <a:ea typeface="PingFang SC"/>
              </a:rPr>
              <a:t>R2 · 5 周</a:t>
            </a:r>
          </a:p>
          <a:p>
            <a:pPr algn="ctr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CTB 时间 · 提前到料 · 数据 · 工具逻辑</a:t>
            </a:r>
          </a:p>
          <a:p>
            <a:pPr algn="ctr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完成开发 / 测试 · 交付 EPM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41378" y="3949700"/>
            <a:ext cx="821516" cy="698500"/>
          </a:xfrm>
          <a:prstGeom prst="roundRect">
            <a:avLst>
              <a:gd name="adj" fmla="val 10000"/>
            </a:avLst>
          </a:prstGeom>
          <a:solidFill>
            <a:srgbClr val="0E3367"/>
          </a:solidFill>
          <a:ln w="9525">
            <a:solidFill>
              <a:srgbClr val="296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/>
                <a:ea typeface="PingFang SC"/>
              </a:rPr>
              <a:t>R3 · 2 周</a:t>
            </a:r>
          </a:p>
          <a:p>
            <a:pPr algn="ctr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适配新专案修改</a:t>
            </a:r>
          </a:p>
          <a:p>
            <a:pPr algn="ctr"/>
            <a:r>
              <a:rPr sz="700" b="0">
                <a:solidFill>
                  <a:srgbClr val="C2CAD7"/>
                </a:solidFill>
                <a:latin typeface="PingFang SC"/>
                <a:ea typeface="PingFang SC"/>
              </a:rPr>
              <a:t>完成 · 交付 EPM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7900" y="4673600"/>
            <a:ext cx="5081494" cy="1016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4 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78794" y="3581400"/>
            <a:ext cx="711200" cy="1206500"/>
          </a:xfrm>
          <a:prstGeom prst="roundRect">
            <a:avLst>
              <a:gd name="adj" fmla="val 8000"/>
            </a:avLst>
          </a:prstGeom>
          <a:solidFill>
            <a:srgbClr val="10366A"/>
          </a:solidFill>
          <a:ln w="12700">
            <a:solidFill>
              <a:srgbClr val="41A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交付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EPM 验收</a:t>
            </a:r>
          </a:p>
          <a:p>
            <a:pPr algn="ctr"/>
            <a:r>
              <a:rPr sz="700" b="0">
                <a:solidFill>
                  <a:srgbClr val="8494AE"/>
                </a:solidFill>
                <a:latin typeface="PingFang SC"/>
                <a:ea typeface="PingFang SC"/>
              </a:rPr>
              <a:t>每轮 try run</a:t>
            </a:r>
          </a:p>
        </p:txBody>
      </p:sp>
      <p:sp>
        <p:nvSpPr>
          <p:cNvPr id="48" name="Chevron 47"/>
          <p:cNvSpPr/>
          <p:nvPr/>
        </p:nvSpPr>
        <p:spPr>
          <a:xfrm>
            <a:off x="1543050" y="4102100"/>
            <a:ext cx="127000" cy="16510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3282950" y="4102100"/>
            <a:ext cx="127000" cy="16510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>
            <a:off x="8707344" y="4102100"/>
            <a:ext cx="127000" cy="16510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66194" y="3581400"/>
            <a:ext cx="2170206" cy="12065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85765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2394" y="3695700"/>
            <a:ext cx="2017806" cy="2794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ctr"/>
            <a:r>
              <a:rPr sz="750" b="0">
                <a:solidFill>
                  <a:srgbClr val="C89F4F"/>
                </a:solidFill>
                <a:latin typeface="PingFang SC"/>
                <a:ea typeface="PingFang SC"/>
              </a:rPr>
              <a:t>传统模式同期</a:t>
            </a:r>
          </a:p>
          <a:p>
            <a:pPr algn="ctr"/>
            <a:r>
              <a:rPr sz="750" b="0">
                <a:solidFill>
                  <a:srgbClr val="C89F4F"/>
                </a:solidFill>
                <a:latin typeface="PingFang SC"/>
                <a:ea typeface="PingFang SC"/>
              </a:rPr>
              <a:t>仍在开发收尾 / 测试阶段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25797" y="4064000"/>
            <a:ext cx="1651000" cy="63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38100" bIns="38100">
            <a:noAutofit/>
          </a:bodyPr>
          <a:lstStyle/>
          <a:p>
            <a:pPr algn="ctr"/>
            <a:r>
              <a:rPr sz="1000" b="1">
                <a:solidFill>
                  <a:srgbClr val="0A2A5E"/>
                </a:solidFill>
                <a:latin typeface="PingFang SC"/>
                <a:ea typeface="PingFang SC"/>
              </a:rPr>
              <a:t>2 轮需求大变更</a:t>
            </a:r>
          </a:p>
          <a:p>
            <a:pPr algn="ctr"/>
            <a:r>
              <a:rPr sz="800" b="1">
                <a:solidFill>
                  <a:srgbClr val="0A2A5E"/>
                </a:solidFill>
                <a:latin typeface="PingFang SC"/>
                <a:ea typeface="PingFang SC"/>
              </a:rPr>
              <a:t>12 周内当轮全部消化</a:t>
            </a:r>
          </a:p>
          <a:p>
            <a:pPr algn="ctr">
              <a:spcBef>
                <a:spcPts val="1000"/>
              </a:spcBef>
            </a:pPr>
            <a:r>
              <a:rPr sz="750" b="0">
                <a:solidFill>
                  <a:srgbClr val="475F86"/>
                </a:solidFill>
                <a:latin typeface="PingFang SC"/>
                <a:ea typeface="PingFang SC"/>
              </a:rPr>
              <a:t>传统模式下 ≈ 排期重来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40097" y="4457700"/>
            <a:ext cx="1422400" cy="9525"/>
          </a:xfrm>
          <a:prstGeom prst="rect">
            <a:avLst/>
          </a:prstGeom>
          <a:solidFill>
            <a:srgbClr val="C2C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5600" y="4895850"/>
            <a:ext cx="254000" cy="1397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l"/>
            <a:r>
              <a:rPr sz="700" b="0">
                <a:solidFill>
                  <a:srgbClr val="788AA6"/>
                </a:solidFill>
                <a:latin typeface="PingFang SC"/>
                <a:ea typeface="PingFang SC"/>
              </a:rPr>
              <a:t>亮点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000" y="4857750"/>
            <a:ext cx="234950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07E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A9E6FB"/>
                </a:solidFill>
                <a:latin typeface="PingFang SC"/>
                <a:ea typeface="PingFang SC"/>
              </a:rPr>
              <a:t>开发 + 测试一体 · 每轮快速交付 try run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48000" y="4857750"/>
            <a:ext cx="196850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07E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A9E6FB"/>
                </a:solidFill>
                <a:latin typeface="PingFang SC"/>
                <a:ea typeface="PingFang SC"/>
              </a:rPr>
              <a:t>AI 整理 SRS · 生成测试用例 · 同步更新文档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80000" y="4857750"/>
            <a:ext cx="1968500" cy="1651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07E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700" b="0">
                <a:solidFill>
                  <a:srgbClr val="A9E6FB"/>
                </a:solidFill>
                <a:latin typeface="PingFang SC"/>
                <a:ea typeface="PingFang SC"/>
              </a:rPr>
              <a:t>2 轮需求变更当轮消化 · 无需重启排期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55600" y="5181600"/>
            <a:ext cx="3750733" cy="889000"/>
          </a:xfrm>
          <a:prstGeom prst="roundRect">
            <a:avLst>
              <a:gd name="adj" fmla="val 9000"/>
            </a:avLst>
          </a:prstGeom>
          <a:solidFill>
            <a:srgbClr val="163566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88900" tIns="63500" bIns="63500">
            <a:no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9DAABF"/>
                </a:solidFill>
                <a:latin typeface="PingFang SC"/>
                <a:ea typeface="PingFang SC"/>
              </a:rPr>
              <a:t>周期压缩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4FC3F7"/>
                </a:solidFill>
                <a:latin typeface="PingFang SC"/>
                <a:ea typeface="PingFang SC"/>
              </a:rPr>
              <a:t>↓ 30%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6EAEF"/>
                </a:solidFill>
                <a:latin typeface="PingFang SC"/>
                <a:ea typeface="PingFang SC"/>
              </a:rPr>
              <a:t>至交付：约 20 周 → 14 周（开发 + 测试 17 → 12 周）</a:t>
            </a:r>
          </a:p>
          <a:p>
            <a:pPr algn="l"/>
            <a:r>
              <a:rPr sz="750" b="0">
                <a:solidFill>
                  <a:srgbClr val="919FB7"/>
                </a:solidFill>
                <a:latin typeface="PingFang SC"/>
                <a:ea typeface="PingFang SC"/>
              </a:rPr>
              <a:t>12 周内同步吸收 2 轮需求变更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20633" y="5181600"/>
            <a:ext cx="3750733" cy="889000"/>
          </a:xfrm>
          <a:prstGeom prst="roundRect">
            <a:avLst>
              <a:gd name="adj" fmla="val 9000"/>
            </a:avLst>
          </a:prstGeom>
          <a:solidFill>
            <a:srgbClr val="163566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88900" tIns="63500" bIns="63500">
            <a:no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9DAABF"/>
                </a:solidFill>
                <a:latin typeface="PingFang SC"/>
                <a:ea typeface="PingFang SC"/>
              </a:rPr>
              <a:t>团队瘦身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4FC3F7"/>
                </a:solidFill>
                <a:latin typeface="PingFang SC"/>
                <a:ea typeface="PingFang SC"/>
              </a:rPr>
              <a:t>4 人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6EAEF"/>
                </a:solidFill>
                <a:latin typeface="PingFang SC"/>
                <a:ea typeface="PingFang SC"/>
              </a:rPr>
              <a:t>开发 + 测试投入：4-6 人 → 4 人（开发 3 · 测试 1）</a:t>
            </a:r>
          </a:p>
          <a:p>
            <a:pPr algn="l"/>
            <a:r>
              <a:rPr sz="750" b="0">
                <a:solidFill>
                  <a:srgbClr val="919FB7"/>
                </a:solidFill>
                <a:latin typeface="PingFang SC"/>
                <a:ea typeface="PingFang SC"/>
              </a:rPr>
              <a:t>测试人力由「若干人」收敛为 1 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85667" y="5181600"/>
            <a:ext cx="3750733" cy="889000"/>
          </a:xfrm>
          <a:prstGeom prst="roundRect">
            <a:avLst>
              <a:gd name="adj" fmla="val 9000"/>
            </a:avLst>
          </a:prstGeom>
          <a:solidFill>
            <a:srgbClr val="163566"/>
          </a:solidFill>
          <a:ln w="9525">
            <a:solidFill>
              <a:srgbClr val="607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88900" tIns="63500" bIns="63500">
            <a:no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9DAABF"/>
                </a:solidFill>
                <a:latin typeface="PingFang SC"/>
                <a:ea typeface="PingFang SC"/>
              </a:rPr>
              <a:t>设计提效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4FC3F7"/>
                </a:solidFill>
                <a:latin typeface="PingFang SC"/>
                <a:ea typeface="PingFang SC"/>
              </a:rPr>
              <a:t>PRD + 原型图直出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6EAEF"/>
                </a:solidFill>
                <a:latin typeface="PingFang SC"/>
                <a:ea typeface="PingFang SC"/>
              </a:rPr>
              <a:t>AI 结合 SRS 直接输出，与 EPM 直接确认可行性</a:t>
            </a:r>
          </a:p>
          <a:p>
            <a:pPr algn="l"/>
            <a:r>
              <a:rPr sz="750" b="0">
                <a:solidFill>
                  <a:srgbClr val="919FB7"/>
                </a:solidFill>
                <a:latin typeface="PingFang SC"/>
                <a:ea typeface="PingFang SC"/>
              </a:rPr>
              <a:t>取代 PM + 开发 DRI + 开发人员共同产出的设计流程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55000" y="6629400"/>
            <a:ext cx="3581400" cy="127000"/>
          </a:xfrm>
          <a:prstGeom prst="rect">
            <a:avLst/>
          </a:prstGeom>
          <a:noFill/>
          <a:effectLst/>
        </p:spPr>
        <p:txBody>
          <a:bodyPr wrap="square" anchor="ctr" lIns="12700" rIns="12700" tIns="12700" bIns="12700">
            <a:noAutofit/>
          </a:bodyPr>
          <a:lstStyle/>
          <a:p>
            <a:pPr algn="r"/>
            <a:r>
              <a:rPr sz="700" b="0">
                <a:solidFill>
                  <a:srgbClr val="607596"/>
                </a:solidFill>
                <a:latin typeface="PingFang SC"/>
                <a:ea typeface="PingFang SC"/>
              </a:rPr>
              <a:t>数据来源：lt-ctb 项目开发复盘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传统开发 vs AI 辅助开发</dc:title>
  <dc:subject/>
  <dc:creator>lt-ctb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